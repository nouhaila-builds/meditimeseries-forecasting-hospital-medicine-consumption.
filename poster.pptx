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9601775" cy="50398363"/>
  <p:notesSz cx="6858000" cy="9144000"/>
  <p:defaultTextStyle>
    <a:defPPr>
      <a:defRPr lang="fr-FR"/>
    </a:defPPr>
    <a:lvl1pPr marL="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1pPr>
    <a:lvl2pPr marL="257143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2pPr>
    <a:lvl3pPr marL="514286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3pPr>
    <a:lvl4pPr marL="771429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4pPr>
    <a:lvl5pPr marL="1028572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5pPr>
    <a:lvl6pPr marL="1285715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6pPr>
    <a:lvl7pPr marL="1542858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7pPr>
    <a:lvl8pPr marL="1800001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8pPr>
    <a:lvl9pPr marL="20571440" algn="l" defTabSz="5142860" rtl="0" eaLnBrk="1" latinLnBrk="0" hangingPunct="1">
      <a:defRPr sz="10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>
          <p15:clr>
            <a:srgbClr val="A4A3A4"/>
          </p15:clr>
        </p15:guide>
        <p15:guide id="2" pos="1247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. Elhannani" initials="A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E1"/>
    <a:srgbClr val="AAB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88" autoAdjust="0"/>
    <p:restoredTop sz="94600" autoAdjust="0"/>
  </p:normalViewPr>
  <p:slideViewPr>
    <p:cSldViewPr>
      <p:cViewPr varScale="1">
        <p:scale>
          <a:sx n="10" d="100"/>
          <a:sy n="10" d="100"/>
        </p:scale>
        <p:origin x="2264" y="24"/>
      </p:cViewPr>
      <p:guideLst>
        <p:guide orient="horz" pos="15874"/>
        <p:guide pos="1247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70133" y="15656162"/>
            <a:ext cx="33661509" cy="1080298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940266" y="28559072"/>
            <a:ext cx="27721243" cy="128795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2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7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28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0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1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28267" y="32385618"/>
            <a:ext cx="33661509" cy="10009675"/>
          </a:xfrm>
        </p:spPr>
        <p:txBody>
          <a:bodyPr anchor="t"/>
          <a:lstStyle>
            <a:lvl1pPr algn="l">
              <a:defRPr sz="225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28267" y="21360980"/>
            <a:ext cx="33661509" cy="11024638"/>
          </a:xfrm>
        </p:spPr>
        <p:txBody>
          <a:bodyPr anchor="b"/>
          <a:lstStyle>
            <a:lvl1pPr marL="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1pPr>
            <a:lvl2pPr marL="2571430" indent="0">
              <a:buNone/>
              <a:defRPr sz="10100">
                <a:solidFill>
                  <a:schemeClr val="tx1">
                    <a:tint val="75000"/>
                  </a:schemeClr>
                </a:solidFill>
              </a:defRPr>
            </a:lvl2pPr>
            <a:lvl3pPr marL="5142860" indent="0">
              <a:buNone/>
              <a:defRPr sz="9000">
                <a:solidFill>
                  <a:schemeClr val="tx1">
                    <a:tint val="75000"/>
                  </a:schemeClr>
                </a:solidFill>
              </a:defRPr>
            </a:lvl3pPr>
            <a:lvl4pPr marL="771429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4pPr>
            <a:lvl5pPr marL="1028572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5pPr>
            <a:lvl6pPr marL="1285715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6pPr>
            <a:lvl7pPr marL="1542858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7pPr>
            <a:lvl8pPr marL="1800001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8pPr>
            <a:lvl9pPr marL="20571440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573513" y="86423863"/>
            <a:ext cx="76852195" cy="244420398"/>
          </a:xfrm>
        </p:spPr>
        <p:txBody>
          <a:bodyPr/>
          <a:lstStyle>
            <a:lvl1pPr>
              <a:defRPr sz="15700"/>
            </a:lvl1pPr>
            <a:lvl2pPr>
              <a:defRPr sz="13500"/>
            </a:lvl2pPr>
            <a:lvl3pPr>
              <a:defRPr sz="11200"/>
            </a:lvl3pPr>
            <a:lvl4pPr>
              <a:defRPr sz="10100"/>
            </a:lvl4pPr>
            <a:lvl5pPr>
              <a:defRPr sz="10100"/>
            </a:lvl5pPr>
            <a:lvl6pPr>
              <a:defRPr sz="10100"/>
            </a:lvl6pPr>
            <a:lvl7pPr>
              <a:defRPr sz="10100"/>
            </a:lvl7pPr>
            <a:lvl8pPr>
              <a:defRPr sz="10100"/>
            </a:lvl8pPr>
            <a:lvl9pPr>
              <a:defRPr sz="10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6085738" y="86423863"/>
            <a:ext cx="76852195" cy="244420398"/>
          </a:xfrm>
        </p:spPr>
        <p:txBody>
          <a:bodyPr/>
          <a:lstStyle>
            <a:lvl1pPr>
              <a:defRPr sz="15700"/>
            </a:lvl1pPr>
            <a:lvl2pPr>
              <a:defRPr sz="13500"/>
            </a:lvl2pPr>
            <a:lvl3pPr>
              <a:defRPr sz="11200"/>
            </a:lvl3pPr>
            <a:lvl4pPr>
              <a:defRPr sz="10100"/>
            </a:lvl4pPr>
            <a:lvl5pPr>
              <a:defRPr sz="10100"/>
            </a:lvl5pPr>
            <a:lvl6pPr>
              <a:defRPr sz="10100"/>
            </a:lvl6pPr>
            <a:lvl7pPr>
              <a:defRPr sz="10100"/>
            </a:lvl7pPr>
            <a:lvl8pPr>
              <a:defRPr sz="10100"/>
            </a:lvl8pPr>
            <a:lvl9pPr>
              <a:defRPr sz="10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0089" y="2018272"/>
            <a:ext cx="35641598" cy="8399727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80089" y="11281304"/>
            <a:ext cx="17497661" cy="4701510"/>
          </a:xfrm>
        </p:spPr>
        <p:txBody>
          <a:bodyPr anchor="b"/>
          <a:lstStyle>
            <a:lvl1pPr marL="0" indent="0">
              <a:buNone/>
              <a:defRPr sz="13500" b="1"/>
            </a:lvl1pPr>
            <a:lvl2pPr marL="2571430" indent="0">
              <a:buNone/>
              <a:defRPr sz="11200" b="1"/>
            </a:lvl2pPr>
            <a:lvl3pPr marL="5142860" indent="0">
              <a:buNone/>
              <a:defRPr sz="10100" b="1"/>
            </a:lvl3pPr>
            <a:lvl4pPr marL="7714290" indent="0">
              <a:buNone/>
              <a:defRPr sz="9000" b="1"/>
            </a:lvl4pPr>
            <a:lvl5pPr marL="10285720" indent="0">
              <a:buNone/>
              <a:defRPr sz="9000" b="1"/>
            </a:lvl5pPr>
            <a:lvl6pPr marL="12857150" indent="0">
              <a:buNone/>
              <a:defRPr sz="9000" b="1"/>
            </a:lvl6pPr>
            <a:lvl7pPr marL="15428580" indent="0">
              <a:buNone/>
              <a:defRPr sz="9000" b="1"/>
            </a:lvl7pPr>
            <a:lvl8pPr marL="18000010" indent="0">
              <a:buNone/>
              <a:defRPr sz="9000" b="1"/>
            </a:lvl8pPr>
            <a:lvl9pPr marL="20571440" indent="0">
              <a:buNone/>
              <a:defRPr sz="90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80089" y="15982814"/>
            <a:ext cx="17497661" cy="29037394"/>
          </a:xfrm>
        </p:spPr>
        <p:txBody>
          <a:bodyPr/>
          <a:lstStyle>
            <a:lvl1pPr>
              <a:defRPr sz="13500"/>
            </a:lvl1pPr>
            <a:lvl2pPr>
              <a:defRPr sz="11200"/>
            </a:lvl2pPr>
            <a:lvl3pPr>
              <a:defRPr sz="101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0117154" y="11281304"/>
            <a:ext cx="17504535" cy="4701510"/>
          </a:xfrm>
        </p:spPr>
        <p:txBody>
          <a:bodyPr anchor="b"/>
          <a:lstStyle>
            <a:lvl1pPr marL="0" indent="0">
              <a:buNone/>
              <a:defRPr sz="13500" b="1"/>
            </a:lvl1pPr>
            <a:lvl2pPr marL="2571430" indent="0">
              <a:buNone/>
              <a:defRPr sz="11200" b="1"/>
            </a:lvl2pPr>
            <a:lvl3pPr marL="5142860" indent="0">
              <a:buNone/>
              <a:defRPr sz="10100" b="1"/>
            </a:lvl3pPr>
            <a:lvl4pPr marL="7714290" indent="0">
              <a:buNone/>
              <a:defRPr sz="9000" b="1"/>
            </a:lvl4pPr>
            <a:lvl5pPr marL="10285720" indent="0">
              <a:buNone/>
              <a:defRPr sz="9000" b="1"/>
            </a:lvl5pPr>
            <a:lvl6pPr marL="12857150" indent="0">
              <a:buNone/>
              <a:defRPr sz="9000" b="1"/>
            </a:lvl6pPr>
            <a:lvl7pPr marL="15428580" indent="0">
              <a:buNone/>
              <a:defRPr sz="9000" b="1"/>
            </a:lvl7pPr>
            <a:lvl8pPr marL="18000010" indent="0">
              <a:buNone/>
              <a:defRPr sz="9000" b="1"/>
            </a:lvl8pPr>
            <a:lvl9pPr marL="20571440" indent="0">
              <a:buNone/>
              <a:defRPr sz="90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0117154" y="15982814"/>
            <a:ext cx="17504535" cy="29037394"/>
          </a:xfrm>
        </p:spPr>
        <p:txBody>
          <a:bodyPr/>
          <a:lstStyle>
            <a:lvl1pPr>
              <a:defRPr sz="13500"/>
            </a:lvl1pPr>
            <a:lvl2pPr>
              <a:defRPr sz="11200"/>
            </a:lvl2pPr>
            <a:lvl3pPr>
              <a:defRPr sz="10100"/>
            </a:lvl3pPr>
            <a:lvl4pPr>
              <a:defRPr sz="9000"/>
            </a:lvl4pPr>
            <a:lvl5pPr>
              <a:defRPr sz="9000"/>
            </a:lvl5pPr>
            <a:lvl6pPr>
              <a:defRPr sz="9000"/>
            </a:lvl6pPr>
            <a:lvl7pPr>
              <a:defRPr sz="9000"/>
            </a:lvl7pPr>
            <a:lvl8pPr>
              <a:defRPr sz="9000"/>
            </a:lvl8pPr>
            <a:lvl9pPr>
              <a:defRPr sz="9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0091" y="2006601"/>
            <a:ext cx="13028711" cy="8539723"/>
          </a:xfrm>
        </p:spPr>
        <p:txBody>
          <a:bodyPr anchor="b"/>
          <a:lstStyle>
            <a:lvl1pPr algn="l">
              <a:defRPr sz="112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483194" y="2006605"/>
            <a:ext cx="22138492" cy="43013607"/>
          </a:xfrm>
        </p:spPr>
        <p:txBody>
          <a:bodyPr/>
          <a:lstStyle>
            <a:lvl1pPr>
              <a:defRPr sz="18000"/>
            </a:lvl1pPr>
            <a:lvl2pPr>
              <a:defRPr sz="15700"/>
            </a:lvl2pPr>
            <a:lvl3pPr>
              <a:defRPr sz="1350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80091" y="10546328"/>
            <a:ext cx="13028711" cy="34473884"/>
          </a:xfrm>
        </p:spPr>
        <p:txBody>
          <a:bodyPr/>
          <a:lstStyle>
            <a:lvl1pPr marL="0" indent="0">
              <a:buNone/>
              <a:defRPr sz="7900"/>
            </a:lvl1pPr>
            <a:lvl2pPr marL="2571430" indent="0">
              <a:buNone/>
              <a:defRPr sz="6700"/>
            </a:lvl2pPr>
            <a:lvl3pPr marL="5142860" indent="0">
              <a:buNone/>
              <a:defRPr sz="5600"/>
            </a:lvl3pPr>
            <a:lvl4pPr marL="7714290" indent="0">
              <a:buNone/>
              <a:defRPr sz="5100"/>
            </a:lvl4pPr>
            <a:lvl5pPr marL="10285720" indent="0">
              <a:buNone/>
              <a:defRPr sz="5100"/>
            </a:lvl5pPr>
            <a:lvl6pPr marL="12857150" indent="0">
              <a:buNone/>
              <a:defRPr sz="5100"/>
            </a:lvl6pPr>
            <a:lvl7pPr marL="15428580" indent="0">
              <a:buNone/>
              <a:defRPr sz="5100"/>
            </a:lvl7pPr>
            <a:lvl8pPr marL="18000010" indent="0">
              <a:buNone/>
              <a:defRPr sz="5100"/>
            </a:lvl8pPr>
            <a:lvl9pPr marL="20571440" indent="0">
              <a:buNone/>
              <a:defRPr sz="5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762225" y="35278854"/>
            <a:ext cx="23761065" cy="4164868"/>
          </a:xfrm>
        </p:spPr>
        <p:txBody>
          <a:bodyPr anchor="b"/>
          <a:lstStyle>
            <a:lvl1pPr algn="l">
              <a:defRPr sz="112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762225" y="4503187"/>
            <a:ext cx="23761065" cy="30239018"/>
          </a:xfrm>
        </p:spPr>
        <p:txBody>
          <a:bodyPr/>
          <a:lstStyle>
            <a:lvl1pPr marL="0" indent="0">
              <a:buNone/>
              <a:defRPr sz="18000"/>
            </a:lvl1pPr>
            <a:lvl2pPr marL="2571430" indent="0">
              <a:buNone/>
              <a:defRPr sz="15700"/>
            </a:lvl2pPr>
            <a:lvl3pPr marL="5142860" indent="0">
              <a:buNone/>
              <a:defRPr sz="13500"/>
            </a:lvl3pPr>
            <a:lvl4pPr marL="7714290" indent="0">
              <a:buNone/>
              <a:defRPr sz="11200"/>
            </a:lvl4pPr>
            <a:lvl5pPr marL="10285720" indent="0">
              <a:buNone/>
              <a:defRPr sz="11200"/>
            </a:lvl5pPr>
            <a:lvl6pPr marL="12857150" indent="0">
              <a:buNone/>
              <a:defRPr sz="11200"/>
            </a:lvl6pPr>
            <a:lvl7pPr marL="15428580" indent="0">
              <a:buNone/>
              <a:defRPr sz="11200"/>
            </a:lvl7pPr>
            <a:lvl8pPr marL="18000010" indent="0">
              <a:buNone/>
              <a:defRPr sz="11200"/>
            </a:lvl8pPr>
            <a:lvl9pPr marL="20571440" indent="0">
              <a:buNone/>
              <a:defRPr sz="11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762225" y="39443723"/>
            <a:ext cx="23761065" cy="5914804"/>
          </a:xfrm>
        </p:spPr>
        <p:txBody>
          <a:bodyPr/>
          <a:lstStyle>
            <a:lvl1pPr marL="0" indent="0">
              <a:buNone/>
              <a:defRPr sz="7900"/>
            </a:lvl1pPr>
            <a:lvl2pPr marL="2571430" indent="0">
              <a:buNone/>
              <a:defRPr sz="6700"/>
            </a:lvl2pPr>
            <a:lvl3pPr marL="5142860" indent="0">
              <a:buNone/>
              <a:defRPr sz="5600"/>
            </a:lvl3pPr>
            <a:lvl4pPr marL="7714290" indent="0">
              <a:buNone/>
              <a:defRPr sz="5100"/>
            </a:lvl4pPr>
            <a:lvl5pPr marL="10285720" indent="0">
              <a:buNone/>
              <a:defRPr sz="5100"/>
            </a:lvl5pPr>
            <a:lvl6pPr marL="12857150" indent="0">
              <a:buNone/>
              <a:defRPr sz="5100"/>
            </a:lvl6pPr>
            <a:lvl7pPr marL="15428580" indent="0">
              <a:buNone/>
              <a:defRPr sz="5100"/>
            </a:lvl7pPr>
            <a:lvl8pPr marL="18000010" indent="0">
              <a:buNone/>
              <a:defRPr sz="5100"/>
            </a:lvl8pPr>
            <a:lvl9pPr marL="20571440" indent="0">
              <a:buNone/>
              <a:defRPr sz="51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24346823" y="14827855"/>
            <a:ext cx="38591107" cy="316016402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573512" y="14827855"/>
            <a:ext cx="115113282" cy="316016402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980089" y="2018272"/>
            <a:ext cx="35641598" cy="8399727"/>
          </a:xfrm>
          <a:prstGeom prst="rect">
            <a:avLst/>
          </a:prstGeom>
        </p:spPr>
        <p:txBody>
          <a:bodyPr vert="horz" lIns="514286" tIns="257143" rIns="514286" bIns="257143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80089" y="11759622"/>
            <a:ext cx="35641598" cy="33260590"/>
          </a:xfrm>
          <a:prstGeom prst="rect">
            <a:avLst/>
          </a:prstGeom>
        </p:spPr>
        <p:txBody>
          <a:bodyPr vert="horz" lIns="514286" tIns="257143" rIns="514286" bIns="257143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980089" y="46711820"/>
            <a:ext cx="9240414" cy="2683246"/>
          </a:xfrm>
          <a:prstGeom prst="rect">
            <a:avLst/>
          </a:prstGeom>
        </p:spPr>
        <p:txBody>
          <a:bodyPr vert="horz" lIns="514286" tIns="257143" rIns="514286" bIns="257143" rtlCol="0" anchor="ctr"/>
          <a:lstStyle>
            <a:lvl1pPr algn="l">
              <a:defRPr sz="6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10F32-628B-4482-BE29-9F7C260E2B73}" type="datetimeFigureOut">
              <a:rPr lang="fr-FR" smtClean="0"/>
              <a:pPr/>
              <a:t>05/12/2025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530607" y="46711820"/>
            <a:ext cx="12540562" cy="2683246"/>
          </a:xfrm>
          <a:prstGeom prst="rect">
            <a:avLst/>
          </a:prstGeom>
        </p:spPr>
        <p:txBody>
          <a:bodyPr vert="horz" lIns="514286" tIns="257143" rIns="514286" bIns="257143" rtlCol="0" anchor="ctr"/>
          <a:lstStyle>
            <a:lvl1pPr algn="ctr">
              <a:defRPr sz="6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8381272" y="46711820"/>
            <a:ext cx="9240414" cy="2683246"/>
          </a:xfrm>
          <a:prstGeom prst="rect">
            <a:avLst/>
          </a:prstGeom>
        </p:spPr>
        <p:txBody>
          <a:bodyPr vert="horz" lIns="514286" tIns="257143" rIns="514286" bIns="257143" rtlCol="0" anchor="ctr"/>
          <a:lstStyle>
            <a:lvl1pPr algn="r">
              <a:defRPr sz="6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2206D-7C6A-499B-8093-83E18F0EB40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2860" rtl="0" eaLnBrk="1" latinLnBrk="0" hangingPunct="1">
        <a:spcBef>
          <a:spcPct val="0"/>
        </a:spcBef>
        <a:buNone/>
        <a:defRPr sz="24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572" indent="-1928572" algn="l" defTabSz="5142860" rtl="0" eaLnBrk="1" latinLnBrk="0" hangingPunct="1">
        <a:spcBef>
          <a:spcPct val="20000"/>
        </a:spcBef>
        <a:buFont typeface="Arial" pitchFamily="34" charset="0"/>
        <a:buChar char="•"/>
        <a:defRPr sz="18000" kern="1200">
          <a:solidFill>
            <a:schemeClr val="tx1"/>
          </a:solidFill>
          <a:latin typeface="+mn-lt"/>
          <a:ea typeface="+mn-ea"/>
          <a:cs typeface="+mn-cs"/>
        </a:defRPr>
      </a:lvl1pPr>
      <a:lvl2pPr marL="4178574" indent="-1607144" algn="l" defTabSz="5142860" rtl="0" eaLnBrk="1" latinLnBrk="0" hangingPunct="1">
        <a:spcBef>
          <a:spcPct val="20000"/>
        </a:spcBef>
        <a:buFont typeface="Arial" pitchFamily="34" charset="0"/>
        <a:buChar char="–"/>
        <a:defRPr sz="157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575" indent="-1285715" algn="l" defTabSz="5142860" rtl="0" eaLnBrk="1" latinLnBrk="0" hangingPunct="1">
        <a:spcBef>
          <a:spcPct val="20000"/>
        </a:spcBef>
        <a:buFont typeface="Arial" pitchFamily="34" charset="0"/>
        <a:buChar char="•"/>
        <a:defRPr sz="135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5" indent="-1285715" algn="l" defTabSz="5142860" rtl="0" eaLnBrk="1" latinLnBrk="0" hangingPunct="1">
        <a:spcBef>
          <a:spcPct val="20000"/>
        </a:spcBef>
        <a:buFont typeface="Arial" pitchFamily="34" charset="0"/>
        <a:buChar char="–"/>
        <a:defRPr sz="1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1435" indent="-1285715" algn="l" defTabSz="5142860" rtl="0" eaLnBrk="1" latinLnBrk="0" hangingPunct="1">
        <a:spcBef>
          <a:spcPct val="20000"/>
        </a:spcBef>
        <a:buFont typeface="Arial" pitchFamily="34" charset="0"/>
        <a:buChar char="»"/>
        <a:defRPr sz="1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2865" indent="-1285715" algn="l" defTabSz="5142860" rtl="0" eaLnBrk="1" latinLnBrk="0" hangingPunct="1">
        <a:spcBef>
          <a:spcPct val="20000"/>
        </a:spcBef>
        <a:buFont typeface="Arial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4295" indent="-1285715" algn="l" defTabSz="5142860" rtl="0" eaLnBrk="1" latinLnBrk="0" hangingPunct="1">
        <a:spcBef>
          <a:spcPct val="20000"/>
        </a:spcBef>
        <a:buFont typeface="Arial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5725" indent="-1285715" algn="l" defTabSz="5142860" rtl="0" eaLnBrk="1" latinLnBrk="0" hangingPunct="1">
        <a:spcBef>
          <a:spcPct val="20000"/>
        </a:spcBef>
        <a:buFont typeface="Arial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7155" indent="-1285715" algn="l" defTabSz="5142860" rtl="0" eaLnBrk="1" latinLnBrk="0" hangingPunct="1">
        <a:spcBef>
          <a:spcPct val="20000"/>
        </a:spcBef>
        <a:buFont typeface="Arial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43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286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3pPr>
      <a:lvl4pPr marL="771429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572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715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6pPr>
      <a:lvl7pPr marL="1542858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01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1440" algn="l" defTabSz="5142860" rtl="0" eaLnBrk="1" latinLnBrk="0" hangingPunct="1">
        <a:defRPr sz="10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Thèse\InSheffield\UkSpeech\Ban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9601775" cy="6405093"/>
          </a:xfrm>
          <a:prstGeom prst="rect">
            <a:avLst/>
          </a:prstGeom>
          <a:noFill/>
        </p:spPr>
      </p:pic>
      <p:sp>
        <p:nvSpPr>
          <p:cNvPr id="4" name="CustomShape 1"/>
          <p:cNvSpPr/>
          <p:nvPr/>
        </p:nvSpPr>
        <p:spPr>
          <a:xfrm>
            <a:off x="706320" y="541080"/>
            <a:ext cx="38202120" cy="58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US" sz="7000" spc="-1" dirty="0"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Efficacy of Decoder versus Non-Decoder Features for </a:t>
            </a:r>
            <a:r>
              <a:rPr lang="en-US" sz="7000" spc="-1" dirty="0" smtClean="0"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ASR </a:t>
            </a:r>
            <a:br>
              <a:rPr lang="en-US" sz="7000" spc="-1" dirty="0" smtClean="0"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</a:br>
            <a:r>
              <a:rPr lang="en-US" sz="7000" spc="-1" dirty="0" smtClean="0"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Errors </a:t>
            </a:r>
            <a:r>
              <a:rPr lang="en-US" sz="7000" spc="-1" dirty="0"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Detection and Classification: </a:t>
            </a:r>
            <a:r>
              <a:rPr lang="en-US" sz="7000" spc="-1" dirty="0" smtClean="0"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A Comparative Study</a:t>
            </a:r>
            <a:r>
              <a:rPr lang="en-GB" sz="2200" b="1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GB" sz="1800" b="1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GB" sz="18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fi-FI" sz="4400" b="1" spc="-1" dirty="0" smtClean="0">
              <a:solidFill>
                <a:schemeClr val="tx2">
                  <a:lumMod val="75000"/>
                </a:schemeClr>
              </a:solidFill>
              <a:uFill>
                <a:solidFill>
                  <a:srgbClr val="FFFFFF"/>
                </a:solidFill>
              </a:uFill>
              <a:latin typeface="Arial Black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GB" sz="600" b="1" strike="noStrike" spc="-1" smtClean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   </a:t>
            </a:r>
            <a:endParaRPr lang="en-GB" sz="1200" b="0" strike="noStrike" spc="-1" dirty="0">
              <a:uFill>
                <a:solidFill>
                  <a:srgbClr val="FFFFFF"/>
                </a:solidFill>
              </a:uFill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4000" b="1" spc="-1" baseline="30000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+</a:t>
            </a:r>
            <a:r>
              <a:rPr lang="en-US" sz="4000" b="1" spc="-1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Laboratory </a:t>
            </a:r>
            <a:r>
              <a:rPr lang="en-US" sz="40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of Information Technologies, </a:t>
            </a:r>
            <a:r>
              <a:rPr lang="en-US" sz="4000" b="1" spc="-1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University </a:t>
            </a:r>
            <a:r>
              <a:rPr lang="en-US" sz="40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of </a:t>
            </a:r>
            <a:r>
              <a:rPr lang="en-US" sz="4000" b="1" spc="-1" dirty="0" err="1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Chouaib</a:t>
            </a:r>
            <a:r>
              <a:rPr lang="en-US" sz="40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b="1" spc="-1" dirty="0" err="1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Doukkali</a:t>
            </a:r>
            <a:r>
              <a:rPr lang="en-US" sz="40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, Morocco </a:t>
            </a:r>
            <a:r>
              <a:rPr lang="en-GB" sz="4000" b="1" strike="noStrike" spc="-1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/>
            </a:r>
            <a:br>
              <a:rPr lang="en-GB" sz="4000" b="1" strike="noStrike" spc="-1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</a:br>
            <a:r>
              <a:rPr lang="en-GB" sz="4000" b="1" strike="noStrike" spc="-1" baseline="30000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*</a:t>
            </a:r>
            <a:r>
              <a:rPr lang="en-GB" sz="4000" b="1" strike="noStrike" spc="-1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Speech </a:t>
            </a:r>
            <a:r>
              <a:rPr lang="en-GB" sz="4000" b="1" strike="noStrike" spc="-1" dirty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and Hearing Research </a:t>
            </a:r>
            <a:r>
              <a:rPr lang="en-GB" sz="4000" b="1" strike="noStrike" spc="-1" dirty="0" smtClean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Group, University </a:t>
            </a:r>
            <a:r>
              <a:rPr lang="en-GB" sz="4000" b="1" strike="noStrike" spc="-1" dirty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of Sheffield, Sheffield, UK </a:t>
            </a:r>
            <a:r>
              <a:rPr lang="en-GB" sz="1000" b="0" strike="noStrike" spc="-1" dirty="0">
                <a:uFill>
                  <a:solidFill>
                    <a:srgbClr val="FFFFFF"/>
                  </a:solidFill>
                </a:uFill>
                <a:latin typeface="Arial" pitchFamily="34" charset="0"/>
                <a:ea typeface="DejaVu Sans"/>
                <a:cs typeface="Arial" pitchFamily="34" charset="0"/>
              </a:rPr>
              <a:t> </a:t>
            </a:r>
            <a:endParaRPr lang="en-GB" sz="1400" b="0" strike="noStrike" spc="-1" dirty="0">
              <a:uFill>
                <a:solidFill>
                  <a:srgbClr val="FFFFFF"/>
                </a:solidFill>
              </a:uFill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GB" sz="36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{</a:t>
            </a:r>
            <a:r>
              <a:rPr lang="en-GB" sz="3600" b="1" spc="-1" dirty="0" err="1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errattahi.r</a:t>
            </a:r>
            <a:r>
              <a:rPr lang="en-GB" sz="36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, </a:t>
            </a:r>
            <a:r>
              <a:rPr lang="en-GB" sz="3600" b="1" spc="-1" dirty="0" err="1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elhannani.a</a:t>
            </a:r>
            <a:r>
              <a:rPr lang="en-GB" sz="36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, </a:t>
            </a:r>
            <a:r>
              <a:rPr lang="en-GB" sz="3600" b="1" spc="-1" dirty="0" err="1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ouahmane.h</a:t>
            </a:r>
            <a:r>
              <a:rPr lang="en-GB" sz="36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}@</a:t>
            </a:r>
            <a:r>
              <a:rPr lang="en-GB" sz="3600" b="1" spc="-1" dirty="0" err="1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ucd.ac.ma</a:t>
            </a:r>
            <a:r>
              <a:rPr lang="en-GB" sz="3600" b="1" spc="-1" dirty="0">
                <a:uFill>
                  <a:solidFill>
                    <a:srgbClr val="FFFFFF"/>
                  </a:solidFill>
                </a:uFill>
                <a:latin typeface="Arial" pitchFamily="34" charset="0"/>
                <a:cs typeface="Arial" pitchFamily="34" charset="0"/>
              </a:rPr>
              <a:t>, t.hain@sheffield.ac.uk</a:t>
            </a:r>
            <a:endParaRPr lang="en-GB" sz="3600" b="0" strike="noStrike" spc="-1" dirty="0">
              <a:uFill>
                <a:solidFill>
                  <a:srgbClr val="FFFFFF"/>
                </a:solidFill>
              </a:u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4"/>
          <p:cNvPicPr/>
          <p:nvPr/>
        </p:nvPicPr>
        <p:blipFill>
          <a:blip r:embed="rId3" cstate="print"/>
          <a:stretch/>
        </p:blipFill>
        <p:spPr>
          <a:xfrm>
            <a:off x="2565127" y="3796149"/>
            <a:ext cx="3914280" cy="2392920"/>
          </a:xfrm>
          <a:prstGeom prst="rect">
            <a:avLst/>
          </a:prstGeom>
          <a:ln>
            <a:noFill/>
          </a:ln>
        </p:spPr>
      </p:pic>
      <p:pic>
        <p:nvPicPr>
          <p:cNvPr id="7" name="Picture 43"/>
          <p:cNvPicPr/>
          <p:nvPr/>
        </p:nvPicPr>
        <p:blipFill>
          <a:blip r:embed="rId4" cstate="print"/>
          <a:stretch/>
        </p:blipFill>
        <p:spPr>
          <a:xfrm>
            <a:off x="6983463" y="3236741"/>
            <a:ext cx="2131920" cy="2952328"/>
          </a:xfrm>
          <a:prstGeom prst="rect">
            <a:avLst/>
          </a:prstGeom>
          <a:ln>
            <a:noFill/>
          </a:ln>
        </p:spPr>
      </p:pic>
      <p:pic>
        <p:nvPicPr>
          <p:cNvPr id="8" name="Image 1"/>
          <p:cNvPicPr preferRelativeResize="0"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314055" y="3525101"/>
            <a:ext cx="2275216" cy="2447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 descr="ucd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3155444" y="3813133"/>
            <a:ext cx="3711339" cy="2015896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934791" y="7341197"/>
            <a:ext cx="12097344" cy="42052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13680207" y="7341197"/>
            <a:ext cx="24986776" cy="42052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2950" lvl="1" indent="-285750" eaLnBrk="0" hangingPunct="0">
              <a:spcBef>
                <a:spcPts val="600"/>
              </a:spcBef>
              <a:spcAft>
                <a:spcPts val="600"/>
              </a:spcAft>
            </a:pPr>
            <a:endParaRPr lang="en-US" sz="2000" i="1" dirty="0" smtClean="0">
              <a:solidFill>
                <a:schemeClr val="tx1"/>
              </a:solidFill>
              <a:ea typeface="Roboto" pitchFamily="2" charset="0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916568" y="7319880"/>
            <a:ext cx="12115567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  <a:ea typeface="DejaVu Sans"/>
              </a:rPr>
              <a:t>Background</a:t>
            </a:r>
            <a:endParaRPr lang="en-GB" sz="18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</a:endParaRPr>
          </a:p>
        </p:txBody>
      </p:sp>
      <p:sp>
        <p:nvSpPr>
          <p:cNvPr id="105" name="CustomShape 15"/>
          <p:cNvSpPr/>
          <p:nvPr/>
        </p:nvSpPr>
        <p:spPr>
          <a:xfrm>
            <a:off x="13673159" y="7313040"/>
            <a:ext cx="24993824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GB" sz="4400" b="1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  <a:ea typeface="DejaVu Sans"/>
              </a:rPr>
              <a:t>Proposed Workflow</a:t>
            </a:r>
            <a:endParaRPr lang="en-GB" sz="4400" b="1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  <a:ea typeface="DejaVu Sans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916568" y="17566333"/>
            <a:ext cx="12115567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  <a:ea typeface="DejaVu Sans"/>
              </a:rPr>
              <a:t>Aims and Objectives</a:t>
            </a:r>
            <a:endParaRPr lang="en-GB" sz="18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</a:endParaRPr>
          </a:p>
        </p:txBody>
      </p:sp>
      <p:sp>
        <p:nvSpPr>
          <p:cNvPr id="108" name="CustomShape 15"/>
          <p:cNvSpPr/>
          <p:nvPr/>
        </p:nvSpPr>
        <p:spPr>
          <a:xfrm>
            <a:off x="13673159" y="20395981"/>
            <a:ext cx="24993824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GB" sz="4400" b="1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  <a:ea typeface="DejaVu Sans"/>
              </a:rPr>
              <a:t>Experimental Setup </a:t>
            </a:r>
            <a:endParaRPr lang="en-GB" sz="4400" b="1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  <a:ea typeface="DejaVu Sans"/>
            </a:endParaRPr>
          </a:p>
        </p:txBody>
      </p:sp>
      <p:sp>
        <p:nvSpPr>
          <p:cNvPr id="109" name="CustomShape 15"/>
          <p:cNvSpPr/>
          <p:nvPr/>
        </p:nvSpPr>
        <p:spPr>
          <a:xfrm>
            <a:off x="13680207" y="40752909"/>
            <a:ext cx="24986776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GB" sz="4400" b="1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  <a:ea typeface="DejaVu Sans"/>
              </a:rPr>
              <a:t>Conclusion &amp; Future Works</a:t>
            </a:r>
            <a:endParaRPr lang="en-GB" sz="4400" b="1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  <a:ea typeface="DejaVu San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06799" y="8205293"/>
            <a:ext cx="11881320" cy="9264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 smtClean="0">
                <a:latin typeface="Arial" pitchFamily="34" charset="0"/>
                <a:cs typeface="Arial" pitchFamily="34" charset="0"/>
              </a:rPr>
              <a:t>Speech recognition has made remarkable advances :</a:t>
            </a:r>
          </a:p>
          <a:p>
            <a:pPr algn="just"/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648000" indent="-648000" algn="just"/>
            <a:r>
              <a:rPr lang="en-US" sz="4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++Satisfactory performance under restrictive conditions (i.e. limited vocabulary, reading speech, and noise-free environment).</a:t>
            </a:r>
          </a:p>
          <a:p>
            <a:pPr marL="648000" indent="-648000" algn="just"/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540000" indent="-540000" algn="just"/>
            <a:r>
              <a:rPr lang="en-US" sz="4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---Height error rate when handling various phenomena, including e.g. acoustic conditions (noise, competing speakers, channel conditions), out of vocabulary words, and pronunciation variations... </a:t>
            </a:r>
          </a:p>
          <a:p>
            <a:pPr marL="540000" indent="-540000" algn="just"/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It is extremely important to be able to make an appropriate and reliable judgement based on the error-prone ASR results.</a:t>
            </a:r>
            <a:endParaRPr lang="fr-FR" sz="4000" dirty="0">
              <a:solidFill>
                <a:srgbClr val="1919E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78807" y="34128173"/>
            <a:ext cx="5256584" cy="2234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7000"/>
              </a:lnSpc>
            </a:pPr>
            <a:r>
              <a:rPr lang="en-US" altLang="zh-TW" sz="3200" b="1" spc="-7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Posterior probability based</a:t>
            </a:r>
            <a:endParaRPr lang="en-US" sz="3200" b="1" spc="-70" dirty="0" smtClean="0">
              <a:solidFill>
                <a:srgbClr val="1919E1"/>
              </a:solidFill>
              <a:latin typeface="Arial" pitchFamily="34" charset="0"/>
              <a:cs typeface="Arial" pitchFamily="34" charset="0"/>
            </a:endParaRPr>
          </a:p>
          <a:p>
            <a:pPr algn="r">
              <a:lnSpc>
                <a:spcPct val="87000"/>
              </a:lnSpc>
            </a:pPr>
            <a:r>
              <a:rPr lang="en-US" sz="3200" dirty="0" smtClean="0">
                <a:latin typeface="Arial" pitchFamily="34" charset="0"/>
                <a:cs typeface="Arial" pitchFamily="34" charset="0"/>
              </a:rPr>
              <a:t> Posterior probability of the word given the acoustic signal is regarded as the confidence measure</a:t>
            </a:r>
            <a:endParaRPr lang="en-US" sz="3200" spc="-20" dirty="0" smtClean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1" name="Straight Connector 32"/>
          <p:cNvCxnSpPr>
            <a:stCxn id="57" idx="6"/>
            <a:endCxn id="54" idx="2"/>
          </p:cNvCxnSpPr>
          <p:nvPr/>
        </p:nvCxnSpPr>
        <p:spPr>
          <a:xfrm flipV="1">
            <a:off x="7127479" y="34534510"/>
            <a:ext cx="884682" cy="25671"/>
          </a:xfrm>
          <a:prstGeom prst="line">
            <a:avLst/>
          </a:prstGeom>
          <a:solidFill>
            <a:srgbClr val="E44417"/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</p:cxnSp>
      <p:cxnSp>
        <p:nvCxnSpPr>
          <p:cNvPr id="52" name="Straight Connector 36"/>
          <p:cNvCxnSpPr>
            <a:stCxn id="54" idx="3"/>
          </p:cNvCxnSpPr>
          <p:nvPr/>
        </p:nvCxnSpPr>
        <p:spPr>
          <a:xfrm flipH="1">
            <a:off x="8063583" y="36283881"/>
            <a:ext cx="673191" cy="436580"/>
          </a:xfrm>
          <a:prstGeom prst="line">
            <a:avLst/>
          </a:prstGeom>
          <a:solidFill>
            <a:srgbClr val="E44417"/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</p:cxnSp>
      <p:cxnSp>
        <p:nvCxnSpPr>
          <p:cNvPr id="53" name="Straight Connector 40"/>
          <p:cNvCxnSpPr>
            <a:stCxn id="54" idx="4"/>
            <a:endCxn id="63" idx="0"/>
          </p:cNvCxnSpPr>
          <p:nvPr/>
        </p:nvCxnSpPr>
        <p:spPr>
          <a:xfrm>
            <a:off x="10486144" y="37008493"/>
            <a:ext cx="313703" cy="1224136"/>
          </a:xfrm>
          <a:prstGeom prst="line">
            <a:avLst/>
          </a:prstGeom>
          <a:solidFill>
            <a:srgbClr val="E44417"/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</p:cxnSp>
      <p:sp>
        <p:nvSpPr>
          <p:cNvPr id="54" name="TextBox 3"/>
          <p:cNvSpPr txBox="1"/>
          <p:nvPr/>
        </p:nvSpPr>
        <p:spPr>
          <a:xfrm>
            <a:off x="8012161" y="32060527"/>
            <a:ext cx="4947966" cy="4947966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tIns="0" bIns="0" rtlCol="0" anchor="ctr" anchorCtr="0">
            <a:noAutofit/>
          </a:bodyPr>
          <a:lstStyle/>
          <a:p>
            <a:pPr algn="ctr"/>
            <a:endParaRPr lang="en-US" altLang="zh-TW" sz="44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zh-TW" sz="4400" dirty="0" smtClean="0">
                <a:latin typeface="Arial" pitchFamily="34" charset="0"/>
                <a:cs typeface="Arial" pitchFamily="34" charset="0"/>
              </a:rPr>
              <a:t>Three categories </a:t>
            </a:r>
          </a:p>
          <a:p>
            <a:pPr algn="ctr"/>
            <a:r>
              <a:rPr lang="en-US" altLang="zh-TW" sz="4400" dirty="0" smtClean="0">
                <a:latin typeface="Arial" pitchFamily="34" charset="0"/>
                <a:cs typeface="Arial" pitchFamily="34" charset="0"/>
              </a:rPr>
              <a:t>of ASR Error </a:t>
            </a:r>
            <a:br>
              <a:rPr lang="en-US" altLang="zh-TW" sz="4400" dirty="0" smtClean="0">
                <a:latin typeface="Arial" pitchFamily="34" charset="0"/>
                <a:cs typeface="Arial" pitchFamily="34" charset="0"/>
              </a:rPr>
            </a:br>
            <a:r>
              <a:rPr lang="en-US" altLang="zh-TW" sz="4400" dirty="0" smtClean="0">
                <a:latin typeface="Arial" pitchFamily="34" charset="0"/>
                <a:cs typeface="Arial" pitchFamily="34" charset="0"/>
              </a:rPr>
              <a:t>detection </a:t>
            </a:r>
            <a:br>
              <a:rPr lang="en-US" altLang="zh-TW" sz="4400" dirty="0" smtClean="0">
                <a:latin typeface="Arial" pitchFamily="34" charset="0"/>
                <a:cs typeface="Arial" pitchFamily="34" charset="0"/>
              </a:rPr>
            </a:br>
            <a:r>
              <a:rPr lang="en-US" altLang="zh-TW" sz="4400" dirty="0" smtClean="0">
                <a:latin typeface="Arial" pitchFamily="34" charset="0"/>
                <a:cs typeface="Arial" pitchFamily="34" charset="0"/>
              </a:rPr>
              <a:t>methods [1]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98887" y="36648453"/>
            <a:ext cx="5558619" cy="180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7000"/>
              </a:lnSpc>
              <a:defRPr/>
            </a:pPr>
            <a:r>
              <a:rPr lang="en-US" sz="3200" b="1" spc="-7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Statistical hypothesis testing</a:t>
            </a:r>
          </a:p>
          <a:p>
            <a:pPr algn="r">
              <a:lnSpc>
                <a:spcPct val="87000"/>
              </a:lnSpc>
              <a:defRPr/>
            </a:pPr>
            <a:r>
              <a:rPr lang="en-US" sz="3200" spc="-20" dirty="0" smtClean="0">
                <a:latin typeface="Arial" pitchFamily="34" charset="0"/>
                <a:cs typeface="Arial" pitchFamily="34" charset="0"/>
              </a:rPr>
              <a:t>Treats error detection as a statistical hypothesis testing problem</a:t>
            </a:r>
            <a:endParaRPr lang="fr-FR" sz="3200" spc="-2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175151" y="38376645"/>
            <a:ext cx="6248172" cy="1806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87000"/>
              </a:lnSpc>
            </a:pPr>
            <a:r>
              <a:rPr lang="en-US" sz="3200" b="1" spc="-7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Featured based</a:t>
            </a:r>
            <a:endParaRPr lang="en-US" sz="3200" dirty="0" smtClean="0">
              <a:solidFill>
                <a:srgbClr val="1919E1"/>
              </a:solidFill>
              <a:latin typeface="Arial" pitchFamily="34" charset="0"/>
              <a:cs typeface="Arial" pitchFamily="34" charset="0"/>
            </a:endParaRPr>
          </a:p>
          <a:p>
            <a:pPr algn="r">
              <a:lnSpc>
                <a:spcPct val="87000"/>
              </a:lnSpc>
            </a:pPr>
            <a:r>
              <a:rPr lang="en-US" sz="3200" spc="-20" dirty="0" smtClean="0">
                <a:latin typeface="Arial" pitchFamily="34" charset="0"/>
                <a:cs typeface="Arial" pitchFamily="34" charset="0"/>
              </a:rPr>
              <a:t>Builds a classifier using features generated from an ASR decoder during the recognition process</a:t>
            </a:r>
            <a:endParaRPr lang="en-US" sz="3200" spc="-2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7" name="Picture Placeholder 5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07479" y="34200181"/>
            <a:ext cx="720000" cy="720000"/>
          </a:xfrm>
          <a:prstGeom prst="ellipse">
            <a:avLst/>
          </a:prstGeom>
          <a:solidFill>
            <a:schemeClr val="accent2"/>
          </a:solidFill>
          <a:ln w="28575" cmpd="sng">
            <a:solidFill>
              <a:schemeClr val="accent1"/>
            </a:solidFill>
          </a:ln>
        </p:spPr>
      </p:pic>
      <p:grpSp>
        <p:nvGrpSpPr>
          <p:cNvPr id="58" name="Group 15"/>
          <p:cNvGrpSpPr>
            <a:grpSpLocks/>
          </p:cNvGrpSpPr>
          <p:nvPr/>
        </p:nvGrpSpPr>
        <p:grpSpPr bwMode="auto">
          <a:xfrm>
            <a:off x="7343503" y="36504437"/>
            <a:ext cx="720000" cy="720080"/>
            <a:chOff x="9063038" y="966788"/>
            <a:chExt cx="649288" cy="649288"/>
          </a:xfrm>
        </p:grpSpPr>
        <p:sp>
          <p:nvSpPr>
            <p:cNvPr id="59" name="Oval 45"/>
            <p:cNvSpPr>
              <a:spLocks noChangeArrowheads="1"/>
            </p:cNvSpPr>
            <p:nvPr/>
          </p:nvSpPr>
          <p:spPr bwMode="auto">
            <a:xfrm>
              <a:off x="9063038" y="966788"/>
              <a:ext cx="649288" cy="64928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200"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–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–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9pPr>
            </a:lstStyle>
            <a:p>
              <a:pPr algn="ctr" eaLnBrk="1" hangingPunct="1">
                <a:lnSpc>
                  <a:spcPct val="67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2800">
                <a:solidFill>
                  <a:schemeClr val="bg1"/>
                </a:solidFill>
                <a:cs typeface="Arial" charset="0"/>
              </a:endParaRPr>
            </a:p>
          </p:txBody>
        </p:sp>
        <p:sp>
          <p:nvSpPr>
            <p:cNvPr id="60" name="Freeform 46"/>
            <p:cNvSpPr>
              <a:spLocks noEditPoints="1"/>
            </p:cNvSpPr>
            <p:nvPr/>
          </p:nvSpPr>
          <p:spPr bwMode="auto">
            <a:xfrm>
              <a:off x="9177338" y="1058863"/>
              <a:ext cx="244475" cy="242888"/>
            </a:xfrm>
            <a:custGeom>
              <a:avLst/>
              <a:gdLst>
                <a:gd name="T0" fmla="*/ 2147483647 w 93"/>
                <a:gd name="T1" fmla="*/ 2147483647 h 92"/>
                <a:gd name="T2" fmla="*/ 2147483647 w 93"/>
                <a:gd name="T3" fmla="*/ 2147483647 h 92"/>
                <a:gd name="T4" fmla="*/ 2147483647 w 93"/>
                <a:gd name="T5" fmla="*/ 2147483647 h 92"/>
                <a:gd name="T6" fmla="*/ 2147483647 w 93"/>
                <a:gd name="T7" fmla="*/ 2147483647 h 92"/>
                <a:gd name="T8" fmla="*/ 2147483647 w 93"/>
                <a:gd name="T9" fmla="*/ 2147483647 h 92"/>
                <a:gd name="T10" fmla="*/ 2147483647 w 93"/>
                <a:gd name="T11" fmla="*/ 2147483647 h 92"/>
                <a:gd name="T12" fmla="*/ 2147483647 w 93"/>
                <a:gd name="T13" fmla="*/ 2147483647 h 92"/>
                <a:gd name="T14" fmla="*/ 2147483647 w 93"/>
                <a:gd name="T15" fmla="*/ 0 h 92"/>
                <a:gd name="T16" fmla="*/ 2147483647 w 93"/>
                <a:gd name="T17" fmla="*/ 2147483647 h 92"/>
                <a:gd name="T18" fmla="*/ 2147483647 w 93"/>
                <a:gd name="T19" fmla="*/ 2147483647 h 92"/>
                <a:gd name="T20" fmla="*/ 2147483647 w 93"/>
                <a:gd name="T21" fmla="*/ 2147483647 h 92"/>
                <a:gd name="T22" fmla="*/ 2147483647 w 93"/>
                <a:gd name="T23" fmla="*/ 2147483647 h 92"/>
                <a:gd name="T24" fmla="*/ 2147483647 w 93"/>
                <a:gd name="T25" fmla="*/ 2147483647 h 92"/>
                <a:gd name="T26" fmla="*/ 2147483647 w 93"/>
                <a:gd name="T27" fmla="*/ 2147483647 h 92"/>
                <a:gd name="T28" fmla="*/ 2147483647 w 93"/>
                <a:gd name="T29" fmla="*/ 2147483647 h 92"/>
                <a:gd name="T30" fmla="*/ 0 w 93"/>
                <a:gd name="T31" fmla="*/ 2147483647 h 92"/>
                <a:gd name="T32" fmla="*/ 2147483647 w 93"/>
                <a:gd name="T33" fmla="*/ 2147483647 h 92"/>
                <a:gd name="T34" fmla="*/ 2147483647 w 93"/>
                <a:gd name="T35" fmla="*/ 2147483647 h 92"/>
                <a:gd name="T36" fmla="*/ 2147483647 w 93"/>
                <a:gd name="T37" fmla="*/ 2147483647 h 92"/>
                <a:gd name="T38" fmla="*/ 2147483647 w 93"/>
                <a:gd name="T39" fmla="*/ 2147483647 h 92"/>
                <a:gd name="T40" fmla="*/ 2147483647 w 93"/>
                <a:gd name="T41" fmla="*/ 2147483647 h 92"/>
                <a:gd name="T42" fmla="*/ 2147483647 w 93"/>
                <a:gd name="T43" fmla="*/ 2147483647 h 92"/>
                <a:gd name="T44" fmla="*/ 2147483647 w 93"/>
                <a:gd name="T45" fmla="*/ 2147483647 h 92"/>
                <a:gd name="T46" fmla="*/ 2147483647 w 93"/>
                <a:gd name="T47" fmla="*/ 2147483647 h 92"/>
                <a:gd name="T48" fmla="*/ 2147483647 w 93"/>
                <a:gd name="T49" fmla="*/ 2147483647 h 92"/>
                <a:gd name="T50" fmla="*/ 2147483647 w 93"/>
                <a:gd name="T51" fmla="*/ 2147483647 h 92"/>
                <a:gd name="T52" fmla="*/ 2147483647 w 93"/>
                <a:gd name="T53" fmla="*/ 2147483647 h 92"/>
                <a:gd name="T54" fmla="*/ 2147483647 w 93"/>
                <a:gd name="T55" fmla="*/ 2147483647 h 92"/>
                <a:gd name="T56" fmla="*/ 2147483647 w 93"/>
                <a:gd name="T57" fmla="*/ 2147483647 h 92"/>
                <a:gd name="T58" fmla="*/ 2147483647 w 93"/>
                <a:gd name="T59" fmla="*/ 2147483647 h 92"/>
                <a:gd name="T60" fmla="*/ 2147483647 w 93"/>
                <a:gd name="T61" fmla="*/ 2147483647 h 92"/>
                <a:gd name="T62" fmla="*/ 2147483647 w 93"/>
                <a:gd name="T63" fmla="*/ 2147483647 h 92"/>
                <a:gd name="T64" fmla="*/ 2147483647 w 93"/>
                <a:gd name="T65" fmla="*/ 2147483647 h 92"/>
                <a:gd name="T66" fmla="*/ 2147483647 w 93"/>
                <a:gd name="T67" fmla="*/ 2147483647 h 92"/>
                <a:gd name="T68" fmla="*/ 2147483647 w 93"/>
                <a:gd name="T69" fmla="*/ 2147483647 h 9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3" h="92">
                  <a:moveTo>
                    <a:pt x="93" y="41"/>
                  </a:moveTo>
                  <a:cubicBezTo>
                    <a:pt x="93" y="40"/>
                    <a:pt x="92" y="39"/>
                    <a:pt x="90" y="39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85" y="39"/>
                    <a:pt x="84" y="38"/>
                    <a:pt x="84" y="37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8" y="24"/>
                    <a:pt x="78" y="22"/>
                    <a:pt x="79" y="21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2" y="16"/>
                    <a:pt x="82" y="16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4" y="8"/>
                    <a:pt x="73" y="8"/>
                    <a:pt x="72" y="9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3"/>
                    <a:pt x="67" y="13"/>
                    <a:pt x="66" y="13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4" y="8"/>
                    <a:pt x="53" y="7"/>
                    <a:pt x="53" y="6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1"/>
                    <a:pt x="52" y="0"/>
                    <a:pt x="51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1"/>
                    <a:pt x="40" y="2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7"/>
                    <a:pt x="39" y="8"/>
                    <a:pt x="38" y="8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3" y="14"/>
                    <a:pt x="22" y="13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0"/>
                    <a:pt x="17" y="10"/>
                    <a:pt x="16" y="11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8"/>
                    <a:pt x="9" y="19"/>
                    <a:pt x="10" y="20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4" y="24"/>
                    <a:pt x="14" y="25"/>
                    <a:pt x="13" y="2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8"/>
                    <a:pt x="8" y="39"/>
                    <a:pt x="6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0"/>
                    <a:pt x="0" y="4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1"/>
                    <a:pt x="1" y="52"/>
                    <a:pt x="2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8" y="52"/>
                    <a:pt x="9" y="53"/>
                    <a:pt x="9" y="54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5" y="68"/>
                    <a:pt x="15" y="69"/>
                    <a:pt x="14" y="70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0" y="74"/>
                    <a:pt x="10" y="75"/>
                    <a:pt x="11" y="76"/>
                  </a:cubicBezTo>
                  <a:cubicBezTo>
                    <a:pt x="17" y="82"/>
                    <a:pt x="17" y="82"/>
                    <a:pt x="17" y="82"/>
                  </a:cubicBezTo>
                  <a:cubicBezTo>
                    <a:pt x="18" y="83"/>
                    <a:pt x="20" y="83"/>
                    <a:pt x="20" y="82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8"/>
                    <a:pt x="26" y="78"/>
                    <a:pt x="27" y="79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9" y="83"/>
                    <a:pt x="40" y="85"/>
                    <a:pt x="40" y="86"/>
                  </a:cubicBezTo>
                  <a:cubicBezTo>
                    <a:pt x="40" y="90"/>
                    <a:pt x="40" y="90"/>
                    <a:pt x="40" y="90"/>
                  </a:cubicBezTo>
                  <a:cubicBezTo>
                    <a:pt x="40" y="91"/>
                    <a:pt x="41" y="92"/>
                    <a:pt x="42" y="92"/>
                  </a:cubicBezTo>
                  <a:cubicBezTo>
                    <a:pt x="51" y="92"/>
                    <a:pt x="51" y="92"/>
                    <a:pt x="51" y="92"/>
                  </a:cubicBezTo>
                  <a:cubicBezTo>
                    <a:pt x="52" y="92"/>
                    <a:pt x="53" y="91"/>
                    <a:pt x="53" y="90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53" y="85"/>
                    <a:pt x="54" y="83"/>
                    <a:pt x="55" y="83"/>
                  </a:cubicBezTo>
                  <a:cubicBezTo>
                    <a:pt x="67" y="78"/>
                    <a:pt x="67" y="78"/>
                    <a:pt x="67" y="78"/>
                  </a:cubicBezTo>
                  <a:cubicBezTo>
                    <a:pt x="68" y="77"/>
                    <a:pt x="70" y="77"/>
                    <a:pt x="71" y="78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4" y="82"/>
                    <a:pt x="76" y="82"/>
                    <a:pt x="76" y="81"/>
                  </a:cubicBezTo>
                  <a:cubicBezTo>
                    <a:pt x="83" y="75"/>
                    <a:pt x="83" y="75"/>
                    <a:pt x="83" y="75"/>
                  </a:cubicBezTo>
                  <a:cubicBezTo>
                    <a:pt x="84" y="74"/>
                    <a:pt x="84" y="73"/>
                    <a:pt x="83" y="72"/>
                  </a:cubicBezTo>
                  <a:cubicBezTo>
                    <a:pt x="80" y="69"/>
                    <a:pt x="80" y="69"/>
                    <a:pt x="80" y="69"/>
                  </a:cubicBezTo>
                  <a:cubicBezTo>
                    <a:pt x="79" y="68"/>
                    <a:pt x="79" y="66"/>
                    <a:pt x="79" y="65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4" y="53"/>
                    <a:pt x="85" y="52"/>
                    <a:pt x="87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2" y="52"/>
                    <a:pt x="93" y="51"/>
                    <a:pt x="93" y="50"/>
                  </a:cubicBezTo>
                  <a:lnTo>
                    <a:pt x="93" y="41"/>
                  </a:lnTo>
                  <a:close/>
                  <a:moveTo>
                    <a:pt x="46" y="61"/>
                  </a:moveTo>
                  <a:cubicBezTo>
                    <a:pt x="38" y="61"/>
                    <a:pt x="31" y="54"/>
                    <a:pt x="31" y="46"/>
                  </a:cubicBezTo>
                  <a:cubicBezTo>
                    <a:pt x="31" y="37"/>
                    <a:pt x="38" y="31"/>
                    <a:pt x="46" y="31"/>
                  </a:cubicBezTo>
                  <a:cubicBezTo>
                    <a:pt x="55" y="31"/>
                    <a:pt x="61" y="37"/>
                    <a:pt x="61" y="46"/>
                  </a:cubicBezTo>
                  <a:cubicBezTo>
                    <a:pt x="61" y="54"/>
                    <a:pt x="55" y="61"/>
                    <a:pt x="46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1" name="Freeform 47"/>
            <p:cNvSpPr>
              <a:spLocks noEditPoints="1"/>
            </p:cNvSpPr>
            <p:nvPr/>
          </p:nvSpPr>
          <p:spPr bwMode="auto">
            <a:xfrm>
              <a:off x="9340850" y="1206500"/>
              <a:ext cx="306388" cy="306388"/>
            </a:xfrm>
            <a:custGeom>
              <a:avLst/>
              <a:gdLst>
                <a:gd name="T0" fmla="*/ 2147483647 w 116"/>
                <a:gd name="T1" fmla="*/ 2147483647 h 116"/>
                <a:gd name="T2" fmla="*/ 2147483647 w 116"/>
                <a:gd name="T3" fmla="*/ 2147483647 h 116"/>
                <a:gd name="T4" fmla="*/ 2147483647 w 116"/>
                <a:gd name="T5" fmla="*/ 2147483647 h 116"/>
                <a:gd name="T6" fmla="*/ 2147483647 w 116"/>
                <a:gd name="T7" fmla="*/ 2147483647 h 116"/>
                <a:gd name="T8" fmla="*/ 2147483647 w 116"/>
                <a:gd name="T9" fmla="*/ 2147483647 h 116"/>
                <a:gd name="T10" fmla="*/ 2147483647 w 116"/>
                <a:gd name="T11" fmla="*/ 2147483647 h 116"/>
                <a:gd name="T12" fmla="*/ 2147483647 w 116"/>
                <a:gd name="T13" fmla="*/ 2147483647 h 116"/>
                <a:gd name="T14" fmla="*/ 2147483647 w 116"/>
                <a:gd name="T15" fmla="*/ 2147483647 h 116"/>
                <a:gd name="T16" fmla="*/ 2147483647 w 116"/>
                <a:gd name="T17" fmla="*/ 2147483647 h 116"/>
                <a:gd name="T18" fmla="*/ 2147483647 w 116"/>
                <a:gd name="T19" fmla="*/ 2147483647 h 116"/>
                <a:gd name="T20" fmla="*/ 2147483647 w 116"/>
                <a:gd name="T21" fmla="*/ 2147483647 h 116"/>
                <a:gd name="T22" fmla="*/ 2147483647 w 116"/>
                <a:gd name="T23" fmla="*/ 2147483647 h 116"/>
                <a:gd name="T24" fmla="*/ 2147483647 w 116"/>
                <a:gd name="T25" fmla="*/ 2147483647 h 116"/>
                <a:gd name="T26" fmla="*/ 2147483647 w 116"/>
                <a:gd name="T27" fmla="*/ 2147483647 h 116"/>
                <a:gd name="T28" fmla="*/ 2147483647 w 116"/>
                <a:gd name="T29" fmla="*/ 2147483647 h 116"/>
                <a:gd name="T30" fmla="*/ 2147483647 w 116"/>
                <a:gd name="T31" fmla="*/ 2147483647 h 116"/>
                <a:gd name="T32" fmla="*/ 2147483647 w 116"/>
                <a:gd name="T33" fmla="*/ 2147483647 h 116"/>
                <a:gd name="T34" fmla="*/ 2147483647 w 116"/>
                <a:gd name="T35" fmla="*/ 2147483647 h 116"/>
                <a:gd name="T36" fmla="*/ 2147483647 w 116"/>
                <a:gd name="T37" fmla="*/ 2147483647 h 116"/>
                <a:gd name="T38" fmla="*/ 2147483647 w 116"/>
                <a:gd name="T39" fmla="*/ 2147483647 h 116"/>
                <a:gd name="T40" fmla="*/ 2147483647 w 116"/>
                <a:gd name="T41" fmla="*/ 2147483647 h 116"/>
                <a:gd name="T42" fmla="*/ 2147483647 w 116"/>
                <a:gd name="T43" fmla="*/ 2147483647 h 116"/>
                <a:gd name="T44" fmla="*/ 2147483647 w 116"/>
                <a:gd name="T45" fmla="*/ 2147483647 h 116"/>
                <a:gd name="T46" fmla="*/ 2147483647 w 116"/>
                <a:gd name="T47" fmla="*/ 2147483647 h 116"/>
                <a:gd name="T48" fmla="*/ 2147483647 w 116"/>
                <a:gd name="T49" fmla="*/ 2147483647 h 116"/>
                <a:gd name="T50" fmla="*/ 2147483647 w 116"/>
                <a:gd name="T51" fmla="*/ 2147483647 h 116"/>
                <a:gd name="T52" fmla="*/ 2147483647 w 116"/>
                <a:gd name="T53" fmla="*/ 2147483647 h 116"/>
                <a:gd name="T54" fmla="*/ 2147483647 w 116"/>
                <a:gd name="T55" fmla="*/ 2147483647 h 116"/>
                <a:gd name="T56" fmla="*/ 2147483647 w 116"/>
                <a:gd name="T57" fmla="*/ 2147483647 h 116"/>
                <a:gd name="T58" fmla="*/ 2147483647 w 116"/>
                <a:gd name="T59" fmla="*/ 2147483647 h 116"/>
                <a:gd name="T60" fmla="*/ 2147483647 w 116"/>
                <a:gd name="T61" fmla="*/ 2147483647 h 116"/>
                <a:gd name="T62" fmla="*/ 2147483647 w 116"/>
                <a:gd name="T63" fmla="*/ 2147483647 h 116"/>
                <a:gd name="T64" fmla="*/ 2147483647 w 116"/>
                <a:gd name="T65" fmla="*/ 2147483647 h 116"/>
                <a:gd name="T66" fmla="*/ 2147483647 w 116"/>
                <a:gd name="T67" fmla="*/ 2147483647 h 116"/>
                <a:gd name="T68" fmla="*/ 2147483647 w 116"/>
                <a:gd name="T69" fmla="*/ 2147483647 h 11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16" h="116">
                  <a:moveTo>
                    <a:pt x="112" y="33"/>
                  </a:moveTo>
                  <a:cubicBezTo>
                    <a:pt x="112" y="31"/>
                    <a:pt x="110" y="30"/>
                    <a:pt x="109" y="31"/>
                  </a:cubicBezTo>
                  <a:cubicBezTo>
                    <a:pt x="104" y="33"/>
                    <a:pt x="104" y="33"/>
                    <a:pt x="104" y="33"/>
                  </a:cubicBezTo>
                  <a:cubicBezTo>
                    <a:pt x="102" y="33"/>
                    <a:pt x="101" y="33"/>
                    <a:pt x="100" y="31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7" y="18"/>
                    <a:pt x="86" y="16"/>
                    <a:pt x="87" y="15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90" y="9"/>
                    <a:pt x="89" y="7"/>
                    <a:pt x="88" y="7"/>
                  </a:cubicBezTo>
                  <a:cubicBezTo>
                    <a:pt x="77" y="2"/>
                    <a:pt x="77" y="2"/>
                    <a:pt x="77" y="2"/>
                  </a:cubicBezTo>
                  <a:cubicBezTo>
                    <a:pt x="76" y="1"/>
                    <a:pt x="74" y="2"/>
                    <a:pt x="74" y="3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9"/>
                    <a:pt x="69" y="10"/>
                    <a:pt x="68" y="10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1" y="10"/>
                    <a:pt x="50" y="9"/>
                    <a:pt x="49" y="7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5" y="0"/>
                    <a:pt x="44" y="1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1" y="7"/>
                    <a:pt x="31" y="8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4"/>
                    <a:pt x="33" y="16"/>
                    <a:pt x="32" y="17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8" y="30"/>
                    <a:pt x="16" y="31"/>
                    <a:pt x="15" y="30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7"/>
                    <a:pt x="7" y="28"/>
                    <a:pt x="7" y="29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1"/>
                    <a:pt x="2" y="43"/>
                    <a:pt x="3" y="43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10" y="46"/>
                    <a:pt x="11" y="48"/>
                    <a:pt x="10" y="49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6"/>
                    <a:pt x="9" y="67"/>
                    <a:pt x="8" y="68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1" y="70"/>
                    <a:pt x="0" y="72"/>
                    <a:pt x="1" y="73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5" y="85"/>
                    <a:pt x="7" y="86"/>
                    <a:pt x="8" y="86"/>
                  </a:cubicBezTo>
                  <a:cubicBezTo>
                    <a:pt x="13" y="84"/>
                    <a:pt x="13" y="84"/>
                    <a:pt x="13" y="84"/>
                  </a:cubicBezTo>
                  <a:cubicBezTo>
                    <a:pt x="15" y="83"/>
                    <a:pt x="17" y="84"/>
                    <a:pt x="18" y="85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30" y="98"/>
                    <a:pt x="31" y="100"/>
                    <a:pt x="30" y="102"/>
                  </a:cubicBezTo>
                  <a:cubicBezTo>
                    <a:pt x="28" y="106"/>
                    <a:pt x="28" y="106"/>
                    <a:pt x="28" y="106"/>
                  </a:cubicBezTo>
                  <a:cubicBezTo>
                    <a:pt x="27" y="108"/>
                    <a:pt x="28" y="109"/>
                    <a:pt x="29" y="110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41" y="116"/>
                    <a:pt x="43" y="115"/>
                    <a:pt x="43" y="114"/>
                  </a:cubicBezTo>
                  <a:cubicBezTo>
                    <a:pt x="46" y="108"/>
                    <a:pt x="46" y="108"/>
                    <a:pt x="46" y="108"/>
                  </a:cubicBezTo>
                  <a:cubicBezTo>
                    <a:pt x="46" y="107"/>
                    <a:pt x="48" y="106"/>
                    <a:pt x="50" y="106"/>
                  </a:cubicBezTo>
                  <a:cubicBezTo>
                    <a:pt x="65" y="107"/>
                    <a:pt x="65" y="107"/>
                    <a:pt x="65" y="107"/>
                  </a:cubicBezTo>
                  <a:cubicBezTo>
                    <a:pt x="66" y="107"/>
                    <a:pt x="68" y="108"/>
                    <a:pt x="68" y="109"/>
                  </a:cubicBezTo>
                  <a:cubicBezTo>
                    <a:pt x="70" y="114"/>
                    <a:pt x="70" y="114"/>
                    <a:pt x="70" y="114"/>
                  </a:cubicBezTo>
                  <a:cubicBezTo>
                    <a:pt x="71" y="116"/>
                    <a:pt x="72" y="116"/>
                    <a:pt x="74" y="116"/>
                  </a:cubicBezTo>
                  <a:cubicBezTo>
                    <a:pt x="84" y="112"/>
                    <a:pt x="84" y="112"/>
                    <a:pt x="84" y="112"/>
                  </a:cubicBezTo>
                  <a:cubicBezTo>
                    <a:pt x="86" y="111"/>
                    <a:pt x="86" y="110"/>
                    <a:pt x="86" y="108"/>
                  </a:cubicBezTo>
                  <a:cubicBezTo>
                    <a:pt x="84" y="103"/>
                    <a:pt x="84" y="103"/>
                    <a:pt x="84" y="103"/>
                  </a:cubicBezTo>
                  <a:cubicBezTo>
                    <a:pt x="84" y="102"/>
                    <a:pt x="84" y="100"/>
                    <a:pt x="85" y="99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9" y="87"/>
                    <a:pt x="101" y="86"/>
                    <a:pt x="102" y="87"/>
                  </a:cubicBezTo>
                  <a:cubicBezTo>
                    <a:pt x="107" y="89"/>
                    <a:pt x="107" y="89"/>
                    <a:pt x="107" y="89"/>
                  </a:cubicBezTo>
                  <a:cubicBezTo>
                    <a:pt x="108" y="89"/>
                    <a:pt x="110" y="89"/>
                    <a:pt x="110" y="88"/>
                  </a:cubicBezTo>
                  <a:cubicBezTo>
                    <a:pt x="115" y="77"/>
                    <a:pt x="115" y="77"/>
                    <a:pt x="115" y="77"/>
                  </a:cubicBezTo>
                  <a:cubicBezTo>
                    <a:pt x="116" y="76"/>
                    <a:pt x="115" y="74"/>
                    <a:pt x="114" y="73"/>
                  </a:cubicBezTo>
                  <a:cubicBezTo>
                    <a:pt x="109" y="71"/>
                    <a:pt x="109" y="71"/>
                    <a:pt x="109" y="71"/>
                  </a:cubicBezTo>
                  <a:cubicBezTo>
                    <a:pt x="108" y="71"/>
                    <a:pt x="107" y="69"/>
                    <a:pt x="107" y="67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107" y="51"/>
                    <a:pt x="108" y="49"/>
                    <a:pt x="110" y="49"/>
                  </a:cubicBezTo>
                  <a:cubicBezTo>
                    <a:pt x="114" y="47"/>
                    <a:pt x="114" y="47"/>
                    <a:pt x="114" y="47"/>
                  </a:cubicBezTo>
                  <a:cubicBezTo>
                    <a:pt x="116" y="46"/>
                    <a:pt x="116" y="45"/>
                    <a:pt x="116" y="43"/>
                  </a:cubicBezTo>
                  <a:lnTo>
                    <a:pt x="112" y="33"/>
                  </a:lnTo>
                  <a:close/>
                  <a:moveTo>
                    <a:pt x="65" y="77"/>
                  </a:moveTo>
                  <a:cubicBezTo>
                    <a:pt x="55" y="80"/>
                    <a:pt x="44" y="75"/>
                    <a:pt x="40" y="65"/>
                  </a:cubicBezTo>
                  <a:cubicBezTo>
                    <a:pt x="37" y="55"/>
                    <a:pt x="42" y="44"/>
                    <a:pt x="52" y="40"/>
                  </a:cubicBezTo>
                  <a:cubicBezTo>
                    <a:pt x="62" y="37"/>
                    <a:pt x="73" y="42"/>
                    <a:pt x="77" y="52"/>
                  </a:cubicBezTo>
                  <a:cubicBezTo>
                    <a:pt x="80" y="62"/>
                    <a:pt x="75" y="73"/>
                    <a:pt x="65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800"/>
            </a:p>
          </p:txBody>
        </p:sp>
      </p:grpSp>
      <p:grpSp>
        <p:nvGrpSpPr>
          <p:cNvPr id="62" name="Group 19"/>
          <p:cNvGrpSpPr>
            <a:grpSpLocks/>
          </p:cNvGrpSpPr>
          <p:nvPr/>
        </p:nvGrpSpPr>
        <p:grpSpPr bwMode="auto">
          <a:xfrm>
            <a:off x="10439847" y="38232629"/>
            <a:ext cx="720000" cy="720000"/>
            <a:chOff x="9405938" y="2520950"/>
            <a:chExt cx="631825" cy="635000"/>
          </a:xfrm>
        </p:grpSpPr>
        <p:sp>
          <p:nvSpPr>
            <p:cNvPr id="63" name="Oval 6"/>
            <p:cNvSpPr>
              <a:spLocks noChangeArrowheads="1"/>
            </p:cNvSpPr>
            <p:nvPr/>
          </p:nvSpPr>
          <p:spPr bwMode="auto">
            <a:xfrm>
              <a:off x="9405938" y="2520950"/>
              <a:ext cx="631825" cy="635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200"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–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–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Arial" charset="0"/>
                <a:buChar char="»"/>
                <a:defRPr>
                  <a:solidFill>
                    <a:schemeClr val="bg2"/>
                  </a:solidFill>
                  <a:latin typeface="Helvetica Light" pitchFamily="34" charset="0"/>
                  <a:ea typeface="Helvetica Light" pitchFamily="34" charset="0"/>
                  <a:cs typeface="Helvetica Light" pitchFamily="34" charset="0"/>
                </a:defRPr>
              </a:lvl9pPr>
            </a:lstStyle>
            <a:p>
              <a:pPr algn="ctr" eaLnBrk="1" hangingPunct="1">
                <a:lnSpc>
                  <a:spcPct val="67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2800">
                <a:solidFill>
                  <a:schemeClr val="bg1"/>
                </a:solidFill>
                <a:cs typeface="Arial" charset="0"/>
              </a:endParaRPr>
            </a:p>
          </p:txBody>
        </p:sp>
        <p:sp>
          <p:nvSpPr>
            <p:cNvPr id="64" name="Freeform 130"/>
            <p:cNvSpPr>
              <a:spLocks/>
            </p:cNvSpPr>
            <p:nvPr/>
          </p:nvSpPr>
          <p:spPr bwMode="auto">
            <a:xfrm>
              <a:off x="9556750" y="2576513"/>
              <a:ext cx="330200" cy="523875"/>
            </a:xfrm>
            <a:custGeom>
              <a:avLst/>
              <a:gdLst>
                <a:gd name="T0" fmla="*/ 2147483647 w 208"/>
                <a:gd name="T1" fmla="*/ 2147483647 h 330"/>
                <a:gd name="T2" fmla="*/ 2147483647 w 208"/>
                <a:gd name="T3" fmla="*/ 2147483647 h 330"/>
                <a:gd name="T4" fmla="*/ 2147483647 w 208"/>
                <a:gd name="T5" fmla="*/ 0 h 330"/>
                <a:gd name="T6" fmla="*/ 0 w 208"/>
                <a:gd name="T7" fmla="*/ 2147483647 h 330"/>
                <a:gd name="T8" fmla="*/ 2147483647 w 208"/>
                <a:gd name="T9" fmla="*/ 2147483647 h 330"/>
                <a:gd name="T10" fmla="*/ 2147483647 w 208"/>
                <a:gd name="T11" fmla="*/ 2147483647 h 330"/>
                <a:gd name="T12" fmla="*/ 2147483647 w 208"/>
                <a:gd name="T13" fmla="*/ 2147483647 h 3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330">
                  <a:moveTo>
                    <a:pt x="208" y="143"/>
                  </a:moveTo>
                  <a:lnTo>
                    <a:pt x="131" y="143"/>
                  </a:lnTo>
                  <a:lnTo>
                    <a:pt x="165" y="0"/>
                  </a:lnTo>
                  <a:lnTo>
                    <a:pt x="0" y="187"/>
                  </a:lnTo>
                  <a:lnTo>
                    <a:pt x="78" y="187"/>
                  </a:lnTo>
                  <a:lnTo>
                    <a:pt x="43" y="330"/>
                  </a:lnTo>
                  <a:lnTo>
                    <a:pt x="208" y="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2800"/>
            </a:p>
          </p:txBody>
        </p:sp>
      </p:grpSp>
      <p:sp>
        <p:nvSpPr>
          <p:cNvPr id="119" name="Text Box 6"/>
          <p:cNvSpPr txBox="1">
            <a:spLocks noChangeArrowheads="1"/>
          </p:cNvSpPr>
          <p:nvPr/>
        </p:nvSpPr>
        <p:spPr bwMode="auto">
          <a:xfrm>
            <a:off x="14328279" y="8493325"/>
            <a:ext cx="179197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 smtClean="0">
                <a:ea typeface="標楷體" pitchFamily="65" charset="-120"/>
              </a:rPr>
              <a:t>Speech</a:t>
            </a:r>
            <a:endParaRPr lang="en-US" altLang="zh-TW" sz="3600" dirty="0">
              <a:ea typeface="標楷體" pitchFamily="65" charset="-120"/>
            </a:endParaRPr>
          </a:p>
          <a:p>
            <a:pPr algn="ctr"/>
            <a:r>
              <a:rPr lang="en-US" altLang="zh-TW" sz="3600" dirty="0" smtClean="0">
                <a:ea typeface="標楷體" pitchFamily="65" charset="-120"/>
              </a:rPr>
              <a:t>Data 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20" name="Organigramme : Disque magnétique 119"/>
          <p:cNvSpPr/>
          <p:nvPr/>
        </p:nvSpPr>
        <p:spPr>
          <a:xfrm>
            <a:off x="14544303" y="9717461"/>
            <a:ext cx="1440160" cy="72008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Line 3"/>
          <p:cNvSpPr>
            <a:spLocks noChangeShapeType="1"/>
          </p:cNvSpPr>
          <p:nvPr/>
        </p:nvSpPr>
        <p:spPr bwMode="auto">
          <a:xfrm>
            <a:off x="15984463" y="10149509"/>
            <a:ext cx="194372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17928679" y="9717461"/>
            <a:ext cx="1620000" cy="90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/>
              <a:t>ASR</a:t>
            </a:r>
            <a:endParaRPr lang="fr-FR" sz="3600" dirty="0"/>
          </a:p>
        </p:txBody>
      </p:sp>
      <p:sp>
        <p:nvSpPr>
          <p:cNvPr id="123" name="Organigramme : Disque magnétique 122"/>
          <p:cNvSpPr/>
          <p:nvPr/>
        </p:nvSpPr>
        <p:spPr>
          <a:xfrm>
            <a:off x="18072695" y="11517661"/>
            <a:ext cx="1440160" cy="72008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4" name="Text Box 6"/>
          <p:cNvSpPr txBox="1">
            <a:spLocks noChangeArrowheads="1"/>
          </p:cNvSpPr>
          <p:nvPr/>
        </p:nvSpPr>
        <p:spPr bwMode="auto">
          <a:xfrm>
            <a:off x="17640647" y="10871330"/>
            <a:ext cx="2232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 smtClean="0">
                <a:ea typeface="標楷體" pitchFamily="65" charset="-120"/>
              </a:rPr>
              <a:t>Reference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25" name="Line 3"/>
          <p:cNvSpPr>
            <a:spLocks noChangeShapeType="1"/>
          </p:cNvSpPr>
          <p:nvPr/>
        </p:nvSpPr>
        <p:spPr bwMode="auto">
          <a:xfrm>
            <a:off x="19584863" y="10149509"/>
            <a:ext cx="194372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26" name="Line 3"/>
          <p:cNvSpPr>
            <a:spLocks noChangeShapeType="1"/>
          </p:cNvSpPr>
          <p:nvPr/>
        </p:nvSpPr>
        <p:spPr bwMode="auto">
          <a:xfrm>
            <a:off x="19584863" y="11877701"/>
            <a:ext cx="194372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27" name="Rectangle 126"/>
          <p:cNvSpPr/>
          <p:nvPr/>
        </p:nvSpPr>
        <p:spPr>
          <a:xfrm>
            <a:off x="21601087" y="9645453"/>
            <a:ext cx="2520280" cy="26642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600" dirty="0"/>
          </a:p>
        </p:txBody>
      </p:sp>
      <p:sp>
        <p:nvSpPr>
          <p:cNvPr id="128" name="Rectangle 127"/>
          <p:cNvSpPr/>
          <p:nvPr/>
        </p:nvSpPr>
        <p:spPr>
          <a:xfrm>
            <a:off x="21673095" y="9789469"/>
            <a:ext cx="230425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/>
              <a:t>ASR Hypo.</a:t>
            </a:r>
            <a:endParaRPr lang="fr-FR" sz="3600" dirty="0"/>
          </a:p>
        </p:txBody>
      </p:sp>
      <p:sp>
        <p:nvSpPr>
          <p:cNvPr id="129" name="Rectangle 128"/>
          <p:cNvSpPr/>
          <p:nvPr/>
        </p:nvSpPr>
        <p:spPr>
          <a:xfrm>
            <a:off x="21673095" y="11445653"/>
            <a:ext cx="230425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Reference</a:t>
            </a:r>
            <a:endParaRPr lang="en-US" sz="3600" dirty="0"/>
          </a:p>
        </p:txBody>
      </p:sp>
      <p:sp>
        <p:nvSpPr>
          <p:cNvPr id="130" name="Text Box 6"/>
          <p:cNvSpPr txBox="1">
            <a:spLocks noChangeArrowheads="1"/>
          </p:cNvSpPr>
          <p:nvPr/>
        </p:nvSpPr>
        <p:spPr bwMode="auto">
          <a:xfrm>
            <a:off x="17208599" y="8783098"/>
            <a:ext cx="28083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 smtClean="0">
                <a:ea typeface="標楷體" pitchFamily="65" charset="-120"/>
              </a:rPr>
              <a:t>ASR decoding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31" name="Text Box 6"/>
          <p:cNvSpPr txBox="1">
            <a:spLocks noChangeArrowheads="1"/>
          </p:cNvSpPr>
          <p:nvPr/>
        </p:nvSpPr>
        <p:spPr bwMode="auto">
          <a:xfrm>
            <a:off x="21241047" y="8781357"/>
            <a:ext cx="30243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 smtClean="0">
                <a:ea typeface="標楷體" pitchFamily="65" charset="-120"/>
              </a:rPr>
              <a:t>Text alignment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32" name="Flèche droite 131"/>
          <p:cNvSpPr/>
          <p:nvPr/>
        </p:nvSpPr>
        <p:spPr>
          <a:xfrm>
            <a:off x="24265383" y="11301638"/>
            <a:ext cx="108012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Text Box 6"/>
          <p:cNvSpPr txBox="1">
            <a:spLocks noChangeArrowheads="1"/>
          </p:cNvSpPr>
          <p:nvPr/>
        </p:nvSpPr>
        <p:spPr bwMode="auto">
          <a:xfrm>
            <a:off x="24913455" y="10655306"/>
            <a:ext cx="345638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600" dirty="0" smtClean="0"/>
              <a:t>Labeled Data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36" name="Organigramme : Multidocument 135"/>
          <p:cNvSpPr/>
          <p:nvPr/>
        </p:nvSpPr>
        <p:spPr>
          <a:xfrm>
            <a:off x="25705543" y="11229629"/>
            <a:ext cx="1728192" cy="1008112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/>
              <a:t>Training Data</a:t>
            </a:r>
            <a:endParaRPr lang="fr-FR" sz="2400" dirty="0"/>
          </a:p>
        </p:txBody>
      </p:sp>
      <p:sp>
        <p:nvSpPr>
          <p:cNvPr id="137" name="Rectangle 20"/>
          <p:cNvSpPr>
            <a:spLocks noChangeArrowheads="1"/>
          </p:cNvSpPr>
          <p:nvPr/>
        </p:nvSpPr>
        <p:spPr bwMode="auto">
          <a:xfrm>
            <a:off x="28801887" y="10365533"/>
            <a:ext cx="2160000" cy="12600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/>
            <a:r>
              <a:rPr lang="en-US" altLang="zh-TW" sz="3600" dirty="0" smtClean="0">
                <a:ea typeface="標楷體" pitchFamily="65" charset="-120"/>
              </a:rPr>
              <a:t>Features Extraction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38" name="Flèche droite 137"/>
          <p:cNvSpPr/>
          <p:nvPr/>
        </p:nvSpPr>
        <p:spPr>
          <a:xfrm>
            <a:off x="27649759" y="11301638"/>
            <a:ext cx="108012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Organigramme : Disque magnétique 138"/>
          <p:cNvSpPr/>
          <p:nvPr/>
        </p:nvSpPr>
        <p:spPr>
          <a:xfrm>
            <a:off x="28801887" y="12525773"/>
            <a:ext cx="2376264" cy="165618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4400" dirty="0" smtClean="0">
              <a:ea typeface="標楷體" pitchFamily="65" charset="-120"/>
            </a:endParaRPr>
          </a:p>
          <a:p>
            <a:pPr algn="ctr"/>
            <a:r>
              <a:rPr lang="en-US" altLang="zh-TW" sz="3600" dirty="0" smtClean="0">
                <a:latin typeface="Arial" pitchFamily="34" charset="0"/>
                <a:ea typeface="標楷體" pitchFamily="65" charset="-120"/>
                <a:cs typeface="Arial" pitchFamily="34" charset="0"/>
              </a:rPr>
              <a:t>Language</a:t>
            </a:r>
          </a:p>
          <a:p>
            <a:pPr algn="ctr"/>
            <a:r>
              <a:rPr lang="en-US" altLang="zh-TW" sz="3600" dirty="0" smtClean="0">
                <a:latin typeface="Arial" pitchFamily="34" charset="0"/>
                <a:ea typeface="標楷體" pitchFamily="65" charset="-120"/>
                <a:cs typeface="Arial" pitchFamily="34" charset="0"/>
              </a:rPr>
              <a:t>model</a:t>
            </a:r>
          </a:p>
          <a:p>
            <a:pPr algn="ctr"/>
            <a:endParaRPr lang="fr-FR" sz="4400" dirty="0" smtClean="0"/>
          </a:p>
        </p:txBody>
      </p:sp>
      <p:sp>
        <p:nvSpPr>
          <p:cNvPr id="143" name="Flèche vers le haut 142"/>
          <p:cNvSpPr/>
          <p:nvPr/>
        </p:nvSpPr>
        <p:spPr>
          <a:xfrm>
            <a:off x="29737991" y="11661677"/>
            <a:ext cx="360040" cy="79208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Rectangle 5"/>
          <p:cNvSpPr>
            <a:spLocks noChangeArrowheads="1"/>
          </p:cNvSpPr>
          <p:nvPr/>
        </p:nvSpPr>
        <p:spPr bwMode="auto">
          <a:xfrm>
            <a:off x="32402287" y="10365533"/>
            <a:ext cx="2160000" cy="1260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sz="3600" dirty="0" smtClean="0">
                <a:ea typeface="標楷體" pitchFamily="65" charset="-120"/>
              </a:rPr>
              <a:t>Detection </a:t>
            </a:r>
          </a:p>
          <a:p>
            <a:pPr algn="ctr"/>
            <a:r>
              <a:rPr lang="en-US" altLang="zh-TW" sz="3600" dirty="0" smtClean="0">
                <a:ea typeface="標楷體" pitchFamily="65" charset="-120"/>
              </a:rPr>
              <a:t>Model</a:t>
            </a:r>
            <a:endParaRPr lang="en-US" altLang="zh-TW" sz="3600" dirty="0">
              <a:ea typeface="標楷體" pitchFamily="65" charset="-120"/>
            </a:endParaRPr>
          </a:p>
        </p:txBody>
      </p:sp>
      <p:sp>
        <p:nvSpPr>
          <p:cNvPr id="145" name="Flèche droite 144"/>
          <p:cNvSpPr/>
          <p:nvPr/>
        </p:nvSpPr>
        <p:spPr>
          <a:xfrm>
            <a:off x="31178151" y="10869589"/>
            <a:ext cx="108012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Text Box 21"/>
          <p:cNvSpPr txBox="1">
            <a:spLocks noChangeArrowheads="1"/>
          </p:cNvSpPr>
          <p:nvPr/>
        </p:nvSpPr>
        <p:spPr bwMode="auto">
          <a:xfrm>
            <a:off x="35426623" y="10365533"/>
            <a:ext cx="2817095" cy="648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fr-FR" altLang="zh-TW" sz="3600" dirty="0" smtClean="0">
                <a:ea typeface="標楷體" pitchFamily="65" charset="-120"/>
              </a:rPr>
              <a:t>W</a:t>
            </a:r>
            <a:r>
              <a:rPr lang="fr-FR" altLang="zh-TW" sz="3600" baseline="-25000" dirty="0" smtClean="0">
                <a:ea typeface="標楷體" pitchFamily="65" charset="-120"/>
              </a:rPr>
              <a:t>0</a:t>
            </a:r>
            <a:r>
              <a:rPr lang="fr-FR" altLang="zh-TW" sz="3600" dirty="0" smtClean="0">
                <a:ea typeface="標楷體" pitchFamily="65" charset="-120"/>
              </a:rPr>
              <a:t>     W</a:t>
            </a:r>
            <a:r>
              <a:rPr lang="fr-FR" altLang="zh-TW" sz="3600" baseline="-25000" dirty="0" smtClean="0">
                <a:ea typeface="標楷體" pitchFamily="65" charset="-120"/>
              </a:rPr>
              <a:t>1</a:t>
            </a:r>
            <a:r>
              <a:rPr lang="fr-FR" altLang="zh-TW" sz="3600" dirty="0" smtClean="0">
                <a:ea typeface="標楷體" pitchFamily="65" charset="-120"/>
              </a:rPr>
              <a:t>    W</a:t>
            </a:r>
            <a:r>
              <a:rPr lang="fr-FR" altLang="zh-TW" sz="3600" baseline="-25000" dirty="0" smtClean="0">
                <a:ea typeface="標楷體" pitchFamily="65" charset="-120"/>
              </a:rPr>
              <a:t>2</a:t>
            </a:r>
            <a:endParaRPr lang="zh-TW" altLang="en-US" sz="3600" baseline="-25000" dirty="0">
              <a:ea typeface="標楷體" pitchFamily="65" charset="-120"/>
            </a:endParaRPr>
          </a:p>
        </p:txBody>
      </p:sp>
      <p:sp>
        <p:nvSpPr>
          <p:cNvPr id="148" name="AutoShape 24"/>
          <p:cNvSpPr>
            <a:spLocks noChangeArrowheads="1"/>
          </p:cNvSpPr>
          <p:nvPr/>
        </p:nvSpPr>
        <p:spPr bwMode="auto">
          <a:xfrm>
            <a:off x="37586863" y="11049549"/>
            <a:ext cx="504000" cy="504000"/>
          </a:xfrm>
          <a:prstGeom prst="flowChartSummingJunction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endParaRPr lang="fr-FR"/>
          </a:p>
        </p:txBody>
      </p:sp>
      <p:sp>
        <p:nvSpPr>
          <p:cNvPr id="149" name="Oval 22"/>
          <p:cNvSpPr>
            <a:spLocks noChangeArrowheads="1"/>
          </p:cNvSpPr>
          <p:nvPr/>
        </p:nvSpPr>
        <p:spPr bwMode="auto">
          <a:xfrm>
            <a:off x="35606703" y="11013605"/>
            <a:ext cx="540000" cy="540000"/>
          </a:xfrm>
          <a:prstGeom prst="ellipse">
            <a:avLst/>
          </a:prstGeom>
          <a:noFill/>
          <a:ln w="9525" algn="ctr">
            <a:solidFill>
              <a:srgbClr val="808000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az-Cyrl-AZ" sz="3600" dirty="0" smtClean="0">
                <a:solidFill>
                  <a:schemeClr val="accent3">
                    <a:lumMod val="75000"/>
                  </a:schemeClr>
                </a:solidFill>
                <a:latin typeface="Roboto"/>
                <a:ea typeface="Roboto"/>
              </a:rPr>
              <a:t>ѵ</a:t>
            </a:r>
            <a:endParaRPr lang="fr-FR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1" name="Flèche droite 150"/>
          <p:cNvSpPr/>
          <p:nvPr/>
        </p:nvSpPr>
        <p:spPr>
          <a:xfrm>
            <a:off x="34634535" y="10869589"/>
            <a:ext cx="79208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3" name="Forme 152"/>
          <p:cNvCxnSpPr>
            <a:stCxn id="128" idx="3"/>
            <a:endCxn id="137" idx="0"/>
          </p:cNvCxnSpPr>
          <p:nvPr/>
        </p:nvCxnSpPr>
        <p:spPr>
          <a:xfrm>
            <a:off x="23977351" y="10149509"/>
            <a:ext cx="5904536" cy="216024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à coins arrondis 153"/>
          <p:cNvSpPr/>
          <p:nvPr/>
        </p:nvSpPr>
        <p:spPr>
          <a:xfrm>
            <a:off x="17640647" y="10725573"/>
            <a:ext cx="10585176" cy="2520280"/>
          </a:xfrm>
          <a:prstGeom prst="round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Text Box 6"/>
          <p:cNvSpPr txBox="1">
            <a:spLocks noChangeArrowheads="1"/>
          </p:cNvSpPr>
          <p:nvPr/>
        </p:nvSpPr>
        <p:spPr bwMode="auto">
          <a:xfrm>
            <a:off x="22033135" y="12741797"/>
            <a:ext cx="2088232" cy="6463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 smtClean="0">
                <a:solidFill>
                  <a:srgbClr val="FF0000"/>
                </a:solidFill>
                <a:latin typeface="Arial" pitchFamily="34" charset="0"/>
                <a:ea typeface="標楷體" pitchFamily="65" charset="-120"/>
                <a:cs typeface="Arial" pitchFamily="34" charset="0"/>
              </a:rPr>
              <a:t>Training</a:t>
            </a:r>
            <a:endParaRPr lang="en-US" altLang="zh-TW" sz="3600" dirty="0">
              <a:solidFill>
                <a:srgbClr val="FF0000"/>
              </a:solidFill>
              <a:latin typeface="Arial" pitchFamily="34" charset="0"/>
              <a:ea typeface="標楷體" pitchFamily="65" charset="-120"/>
              <a:cs typeface="Arial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281223" y="14482679"/>
            <a:ext cx="13728576" cy="538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" name="Rectangle à coins arrondis 155"/>
          <p:cNvSpPr/>
          <p:nvPr/>
        </p:nvSpPr>
        <p:spPr>
          <a:xfrm>
            <a:off x="28657871" y="10221517"/>
            <a:ext cx="2376264" cy="1512168"/>
          </a:xfrm>
          <a:prstGeom prst="roundRect">
            <a:avLst/>
          </a:prstGeom>
          <a:noFill/>
          <a:ln w="28575">
            <a:solidFill>
              <a:srgbClr val="1919E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à coins arrondis 156"/>
          <p:cNvSpPr/>
          <p:nvPr/>
        </p:nvSpPr>
        <p:spPr>
          <a:xfrm>
            <a:off x="13752215" y="14253965"/>
            <a:ext cx="14761640" cy="5832648"/>
          </a:xfrm>
          <a:prstGeom prst="roundRect">
            <a:avLst/>
          </a:prstGeom>
          <a:noFill/>
          <a:ln w="28575">
            <a:solidFill>
              <a:srgbClr val="1919E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2" name="Connecteur droit 161"/>
          <p:cNvCxnSpPr/>
          <p:nvPr/>
        </p:nvCxnSpPr>
        <p:spPr>
          <a:xfrm flipH="1">
            <a:off x="27865783" y="11733685"/>
            <a:ext cx="1008112" cy="2592288"/>
          </a:xfrm>
          <a:prstGeom prst="line">
            <a:avLst/>
          </a:prstGeom>
          <a:ln w="28575">
            <a:solidFill>
              <a:srgbClr val="1919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945903" y="14686013"/>
            <a:ext cx="84486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8729879" y="16558221"/>
            <a:ext cx="93630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8801887" y="18358421"/>
            <a:ext cx="85248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" name="Rectangle 162"/>
          <p:cNvSpPr/>
          <p:nvPr/>
        </p:nvSpPr>
        <p:spPr>
          <a:xfrm>
            <a:off x="13680207" y="21459812"/>
            <a:ext cx="15590228" cy="509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8700" lvl="1" indent="-571500" eaLnBrk="0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Speech data: </a:t>
            </a:r>
            <a:r>
              <a:rPr lang="en-US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Multi-Genre Broadcast (MGB)</a:t>
            </a: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 corpus [2].</a:t>
            </a:r>
          </a:p>
          <a:p>
            <a:pPr marL="1653750" lvl="5" indent="-5715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-"/>
            </a:pPr>
            <a:r>
              <a:rPr lang="en-US" sz="40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BBC </a:t>
            </a:r>
            <a:r>
              <a:rPr lang="en-US" sz="4000" dirty="0">
                <a:latin typeface="Arial" pitchFamily="34" charset="0"/>
                <a:ea typeface="Roboto" pitchFamily="2" charset="0"/>
                <a:cs typeface="Arial" pitchFamily="34" charset="0"/>
              </a:rPr>
              <a:t>broadcasts and subtitles</a:t>
            </a:r>
          </a:p>
          <a:p>
            <a:pPr marL="1653750" lvl="5" indent="-5715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-"/>
            </a:pPr>
            <a:r>
              <a:rPr lang="en-US" sz="40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7 shows with 28 hours of audio (70% for Training and </a:t>
            </a:r>
          </a:p>
          <a:p>
            <a:pPr marL="1082250" lvl="5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40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    30%  for the Test)</a:t>
            </a:r>
          </a:p>
          <a:p>
            <a:pPr marL="1028700" lvl="1" indent="-571500" eaLnBrk="0" fontAlgn="base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Transcription: the </a:t>
            </a:r>
            <a:r>
              <a:rPr lang="en-US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2015 Sheffield's ASR system </a:t>
            </a: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[3].</a:t>
            </a:r>
          </a:p>
          <a:p>
            <a:pPr marL="1028700" lvl="1" indent="-571500" eaLnBrk="0" fontAlgn="base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Language Model: </a:t>
            </a:r>
            <a:r>
              <a:rPr lang="en-US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Microsoft Web N-gram </a:t>
            </a: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corpus [4].</a:t>
            </a:r>
          </a:p>
          <a:p>
            <a:pPr marL="1028700" lvl="1" indent="-571500" eaLnBrk="0" fontAlgn="base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Classifier: </a:t>
            </a:r>
            <a:r>
              <a:rPr lang="en-US" sz="4400" dirty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Support Vector Machines</a:t>
            </a:r>
            <a:r>
              <a:rPr lang="en-US" sz="4400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.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8347985" y="22639238"/>
            <a:ext cx="988695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6344503" y="28439541"/>
            <a:ext cx="19260000" cy="5390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6272495" y="34923961"/>
            <a:ext cx="19260000" cy="5540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" name="Accolade fermante 163"/>
          <p:cNvSpPr/>
          <p:nvPr/>
        </p:nvSpPr>
        <p:spPr>
          <a:xfrm>
            <a:off x="25129479" y="17782357"/>
            <a:ext cx="576064" cy="1296144"/>
          </a:xfrm>
          <a:prstGeom prst="rightBrace">
            <a:avLst/>
          </a:prstGeom>
          <a:ln w="28575">
            <a:solidFill>
              <a:srgbClr val="191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5" name="ZoneTexte 164"/>
          <p:cNvSpPr txBox="1"/>
          <p:nvPr/>
        </p:nvSpPr>
        <p:spPr>
          <a:xfrm>
            <a:off x="25561527" y="17854365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1919E1"/>
                </a:solidFill>
              </a:rPr>
              <a:t>Contextual features</a:t>
            </a:r>
            <a:endParaRPr lang="en-US" sz="3600" dirty="0">
              <a:solidFill>
                <a:srgbClr val="1919E1"/>
              </a:solidFill>
            </a:endParaRPr>
          </a:p>
        </p:txBody>
      </p:sp>
      <p:sp>
        <p:nvSpPr>
          <p:cNvPr id="166" name="Oval 22"/>
          <p:cNvSpPr>
            <a:spLocks noChangeArrowheads="1"/>
          </p:cNvSpPr>
          <p:nvPr/>
        </p:nvSpPr>
        <p:spPr bwMode="auto">
          <a:xfrm>
            <a:off x="36578751" y="11013605"/>
            <a:ext cx="540000" cy="540000"/>
          </a:xfrm>
          <a:prstGeom prst="ellipse">
            <a:avLst/>
          </a:prstGeom>
          <a:noFill/>
          <a:ln w="9525" algn="ctr">
            <a:solidFill>
              <a:srgbClr val="808000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az-Cyrl-AZ" sz="3600" dirty="0" smtClean="0">
                <a:solidFill>
                  <a:schemeClr val="accent3">
                    <a:lumMod val="75000"/>
                  </a:schemeClr>
                </a:solidFill>
                <a:latin typeface="Roboto"/>
                <a:ea typeface="Roboto"/>
              </a:rPr>
              <a:t>ѵ</a:t>
            </a:r>
            <a:endParaRPr lang="fr-FR" sz="3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13752215" y="34203881"/>
            <a:ext cx="13681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1" indent="-742950" eaLnBrk="0" fontAlgn="base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000" b="1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ASR Errors Type Classification Results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3896231" y="41761021"/>
            <a:ext cx="24410712" cy="749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114230" algn="just" eaLnBrk="0" hangingPunct="0">
              <a:spcBef>
                <a:spcPts val="600"/>
              </a:spcBef>
              <a:spcAft>
                <a:spcPts val="600"/>
              </a:spcAft>
            </a:pPr>
            <a:r>
              <a:rPr lang="en-GB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This </a:t>
            </a:r>
            <a:r>
              <a:rPr lang="en-GB" sz="4400" dirty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work addresses </a:t>
            </a:r>
            <a:r>
              <a:rPr lang="en-GB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ASR errors </a:t>
            </a:r>
            <a:r>
              <a:rPr lang="en-GB" sz="4400" dirty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detection and </a:t>
            </a:r>
            <a:r>
              <a:rPr lang="en-GB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classification. Experimental </a:t>
            </a:r>
            <a:r>
              <a:rPr lang="en-GB" sz="4400" dirty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results using SVMs and different combination of features showed</a:t>
            </a:r>
            <a:r>
              <a:rPr lang="en-GB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:</a:t>
            </a:r>
            <a:endParaRPr lang="en-US" sz="4400" dirty="0" smtClean="0">
              <a:solidFill>
                <a:srgbClr val="1919E1"/>
              </a:solidFill>
              <a:latin typeface="Arial" pitchFamily="34" charset="0"/>
              <a:ea typeface="Roboto" pitchFamily="2" charset="0"/>
              <a:cs typeface="Arial" pitchFamily="34" charset="0"/>
            </a:endParaRP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Encouraging results with only 7 features on a very challenging dataset.</a:t>
            </a: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>
                <a:latin typeface="Arial" pitchFamily="34" charset="0"/>
                <a:cs typeface="Arial" pitchFamily="34" charset="0"/>
              </a:rPr>
              <a:t>Competitive performance when using only non-decoder-based as compared to decoder-based features.</a:t>
            </a: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Positive influence of both N-gram and SO features on the system performance.</a:t>
            </a: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GB" sz="4000" dirty="0" smtClean="0">
                <a:latin typeface="Arial" pitchFamily="34" charset="0"/>
                <a:cs typeface="Arial" pitchFamily="34" charset="0"/>
              </a:rPr>
              <a:t>Better results when considering the label of the previous word in addition to the contextual features.</a:t>
            </a:r>
          </a:p>
          <a:p>
            <a:pPr marL="0" lvl="2" algn="just">
              <a:spcBef>
                <a:spcPts val="0"/>
              </a:spcBef>
            </a:pP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indent="-2114230" eaLnBrk="0" hangingPunct="0">
              <a:spcBef>
                <a:spcPts val="600"/>
              </a:spcBef>
              <a:spcAft>
                <a:spcPts val="600"/>
              </a:spcAft>
            </a:pPr>
            <a:r>
              <a:rPr lang="fr-FR" sz="4400" dirty="0" smtClean="0">
                <a:solidFill>
                  <a:srgbClr val="1919E1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t>Future Works:</a:t>
            </a: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Adding supplementary information sources, such as lexical and semantic features.</a:t>
            </a: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Using advanced deep learning techniques.</a:t>
            </a: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Including the accuracy estimation by considering the deletion errors.</a:t>
            </a:r>
          </a:p>
          <a:p>
            <a:pPr marL="540000" lvl="2" indent="-540000" algn="just">
              <a:buFont typeface="Arial" pitchFamily="34" charset="0"/>
              <a:buChar char="•"/>
            </a:pPr>
            <a:r>
              <a:rPr lang="en-US" sz="4000" dirty="0" smtClean="0">
                <a:latin typeface="Arial" pitchFamily="34" charset="0"/>
                <a:cs typeface="Arial" pitchFamily="34" charset="0"/>
              </a:rPr>
              <a:t>Generalizing on other ASR systems and speech corpora.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6799" y="18609855"/>
            <a:ext cx="118813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dirty="0" smtClean="0">
                <a:latin typeface="Arial" pitchFamily="34" charset="0"/>
                <a:cs typeface="Arial" pitchFamily="34" charset="0"/>
              </a:rPr>
              <a:t>This  poster  addresses  errors  in  continuous  speech recognition output in two  stages: 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Errors detection (Correct/ Error) 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Errors type classification (Correct/ Substitution / Insertion)</a:t>
            </a:r>
          </a:p>
          <a:p>
            <a:pPr marL="540000" indent="-540000" algn="just"/>
            <a:endParaRPr lang="en-US" sz="4000" dirty="0" smtClean="0">
              <a:solidFill>
                <a:srgbClr val="1919E1"/>
              </a:solidFill>
              <a:latin typeface="Arial" pitchFamily="34" charset="0"/>
              <a:cs typeface="Arial" pitchFamily="34" charset="0"/>
            </a:endParaRPr>
          </a:p>
          <a:p>
            <a:pPr marL="540000" indent="-540000" algn="just">
              <a:buFont typeface="Arial" pitchFamily="34" charset="0"/>
              <a:buChar char="•"/>
            </a:pPr>
            <a:endParaRPr lang="en-US" sz="4000" dirty="0" smtClean="0">
              <a:solidFill>
                <a:srgbClr val="1919E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1" name="Groupe 90"/>
          <p:cNvGrpSpPr/>
          <p:nvPr/>
        </p:nvGrpSpPr>
        <p:grpSpPr>
          <a:xfrm>
            <a:off x="1870895" y="22102837"/>
            <a:ext cx="1440000" cy="1440000"/>
            <a:chOff x="1115616" y="3363838"/>
            <a:chExt cx="1030287" cy="1030287"/>
          </a:xfrm>
        </p:grpSpPr>
        <p:grpSp>
          <p:nvGrpSpPr>
            <p:cNvPr id="92" name="Group 12"/>
            <p:cNvGrpSpPr>
              <a:grpSpLocks/>
            </p:cNvGrpSpPr>
            <p:nvPr/>
          </p:nvGrpSpPr>
          <p:grpSpPr bwMode="auto">
            <a:xfrm>
              <a:off x="1115616" y="3363838"/>
              <a:ext cx="1030287" cy="1030287"/>
              <a:chOff x="4059238" y="1814514"/>
              <a:chExt cx="303212" cy="303213"/>
            </a:xfrm>
          </p:grpSpPr>
          <p:sp>
            <p:nvSpPr>
              <p:cNvPr id="94" name="Oval 23"/>
              <p:cNvSpPr>
                <a:spLocks noChangeArrowheads="1"/>
              </p:cNvSpPr>
              <p:nvPr/>
            </p:nvSpPr>
            <p:spPr bwMode="auto">
              <a:xfrm>
                <a:off x="4059238" y="1814514"/>
                <a:ext cx="303212" cy="303213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>
                  <a:solidFill>
                    <a:srgbClr val="2E2E2E"/>
                  </a:solidFill>
                  <a:latin typeface="Franklin Gothic Book" pitchFamily="34" charset="0"/>
                </a:endParaRPr>
              </a:p>
            </p:txBody>
          </p:sp>
          <p:grpSp>
            <p:nvGrpSpPr>
              <p:cNvPr id="95" name="Group 14"/>
              <p:cNvGrpSpPr>
                <a:grpSpLocks/>
              </p:cNvGrpSpPr>
              <p:nvPr/>
            </p:nvGrpSpPr>
            <p:grpSpPr bwMode="auto">
              <a:xfrm>
                <a:off x="4162425" y="1882776"/>
                <a:ext cx="114300" cy="149225"/>
                <a:chOff x="4162425" y="1882776"/>
                <a:chExt cx="114300" cy="149225"/>
              </a:xfrm>
            </p:grpSpPr>
            <p:sp>
              <p:nvSpPr>
                <p:cNvPr id="96" name="Oval 25"/>
                <p:cNvSpPr>
                  <a:spLocks noChangeArrowheads="1"/>
                </p:cNvSpPr>
                <p:nvPr/>
              </p:nvSpPr>
              <p:spPr bwMode="auto">
                <a:xfrm>
                  <a:off x="4162425" y="1917701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>
                    <a:solidFill>
                      <a:srgbClr val="2E2E2E"/>
                    </a:solidFill>
                    <a:latin typeface="Franklin Gothic Book" pitchFamily="34" charset="0"/>
                  </a:endParaRPr>
                </a:p>
              </p:txBody>
            </p:sp>
            <p:sp>
              <p:nvSpPr>
                <p:cNvPr id="97" name="Rectangle 26"/>
                <p:cNvSpPr>
                  <a:spLocks noChangeArrowheads="1"/>
                </p:cNvSpPr>
                <p:nvPr/>
              </p:nvSpPr>
              <p:spPr bwMode="auto">
                <a:xfrm>
                  <a:off x="4202113" y="1882776"/>
                  <a:ext cx="41275" cy="12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altLang="en-US">
                    <a:solidFill>
                      <a:srgbClr val="2E2E2E"/>
                    </a:solidFill>
                    <a:latin typeface="Franklin Gothic Book" pitchFamily="34" charset="0"/>
                  </a:endParaRPr>
                </a:p>
              </p:txBody>
            </p:sp>
          </p:grpSp>
        </p:grpSp>
        <p:pic>
          <p:nvPicPr>
            <p:cNvPr id="93" name="Picture 2" descr="D:\Thèse\Doctoriales marakech\User-Interface-Voice-Recognition-Scan-icon.png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1331640" y="3507854"/>
              <a:ext cx="617239" cy="617238"/>
            </a:xfrm>
            <a:prstGeom prst="rect">
              <a:avLst/>
            </a:prstGeom>
            <a:noFill/>
          </p:spPr>
        </p:pic>
      </p:grpSp>
      <p:cxnSp>
        <p:nvCxnSpPr>
          <p:cNvPr id="98" name="Straight Connector 24"/>
          <p:cNvCxnSpPr>
            <a:stCxn id="94" idx="6"/>
            <a:endCxn id="111" idx="2"/>
          </p:cNvCxnSpPr>
          <p:nvPr/>
        </p:nvCxnSpPr>
        <p:spPr>
          <a:xfrm>
            <a:off x="3310895" y="22822837"/>
            <a:ext cx="3060000" cy="160"/>
          </a:xfrm>
          <a:prstGeom prst="line">
            <a:avLst/>
          </a:prstGeom>
          <a:ln w="12700" cmpd="sng">
            <a:solidFill>
              <a:schemeClr val="accent2">
                <a:lumMod val="75000"/>
              </a:schemeClr>
            </a:solidFill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24"/>
          <p:cNvCxnSpPr>
            <a:stCxn id="111" idx="6"/>
            <a:endCxn id="118" idx="2"/>
          </p:cNvCxnSpPr>
          <p:nvPr/>
        </p:nvCxnSpPr>
        <p:spPr>
          <a:xfrm flipV="1">
            <a:off x="7775551" y="22822838"/>
            <a:ext cx="3024336" cy="159"/>
          </a:xfrm>
          <a:prstGeom prst="line">
            <a:avLst/>
          </a:prstGeom>
          <a:ln w="12700" cmpd="sng">
            <a:solidFill>
              <a:schemeClr val="accent2">
                <a:lumMod val="75000"/>
              </a:schemeClr>
            </a:solidFill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e 99"/>
          <p:cNvGrpSpPr/>
          <p:nvPr/>
        </p:nvGrpSpPr>
        <p:grpSpPr>
          <a:xfrm>
            <a:off x="6335551" y="22102997"/>
            <a:ext cx="1440000" cy="1440000"/>
            <a:chOff x="4117777" y="3363838"/>
            <a:chExt cx="1030287" cy="1030287"/>
          </a:xfrm>
        </p:grpSpPr>
        <p:grpSp>
          <p:nvGrpSpPr>
            <p:cNvPr id="104" name="Group 12"/>
            <p:cNvGrpSpPr>
              <a:grpSpLocks/>
            </p:cNvGrpSpPr>
            <p:nvPr/>
          </p:nvGrpSpPr>
          <p:grpSpPr bwMode="auto">
            <a:xfrm>
              <a:off x="4117777" y="3363838"/>
              <a:ext cx="1030287" cy="1030287"/>
              <a:chOff x="4059238" y="1814514"/>
              <a:chExt cx="303212" cy="303213"/>
            </a:xfrm>
          </p:grpSpPr>
          <p:sp>
            <p:nvSpPr>
              <p:cNvPr id="111" name="Oval 23"/>
              <p:cNvSpPr>
                <a:spLocks noChangeArrowheads="1"/>
              </p:cNvSpPr>
              <p:nvPr/>
            </p:nvSpPr>
            <p:spPr bwMode="auto">
              <a:xfrm>
                <a:off x="4059238" y="1814514"/>
                <a:ext cx="303212" cy="303213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>
                  <a:solidFill>
                    <a:srgbClr val="2E2E2E"/>
                  </a:solidFill>
                  <a:latin typeface="Franklin Gothic Book" pitchFamily="34" charset="0"/>
                </a:endParaRPr>
              </a:p>
            </p:txBody>
          </p:sp>
          <p:grpSp>
            <p:nvGrpSpPr>
              <p:cNvPr id="112" name="Group 14"/>
              <p:cNvGrpSpPr>
                <a:grpSpLocks/>
              </p:cNvGrpSpPr>
              <p:nvPr/>
            </p:nvGrpSpPr>
            <p:grpSpPr bwMode="auto">
              <a:xfrm>
                <a:off x="4162425" y="1882776"/>
                <a:ext cx="114300" cy="149225"/>
                <a:chOff x="4162425" y="1882776"/>
                <a:chExt cx="114300" cy="149225"/>
              </a:xfrm>
            </p:grpSpPr>
            <p:sp>
              <p:nvSpPr>
                <p:cNvPr id="113" name="Oval 25"/>
                <p:cNvSpPr>
                  <a:spLocks noChangeArrowheads="1"/>
                </p:cNvSpPr>
                <p:nvPr/>
              </p:nvSpPr>
              <p:spPr bwMode="auto">
                <a:xfrm>
                  <a:off x="4162425" y="1917701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>
                    <a:solidFill>
                      <a:srgbClr val="2E2E2E"/>
                    </a:solidFill>
                    <a:latin typeface="Franklin Gothic Book" pitchFamily="34" charset="0"/>
                  </a:endParaRPr>
                </a:p>
              </p:txBody>
            </p:sp>
            <p:sp>
              <p:nvSpPr>
                <p:cNvPr id="114" name="Rectangle 26"/>
                <p:cNvSpPr>
                  <a:spLocks noChangeArrowheads="1"/>
                </p:cNvSpPr>
                <p:nvPr/>
              </p:nvSpPr>
              <p:spPr bwMode="auto">
                <a:xfrm>
                  <a:off x="4202113" y="1882776"/>
                  <a:ext cx="41275" cy="12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altLang="en-US">
                    <a:solidFill>
                      <a:srgbClr val="2E2E2E"/>
                    </a:solidFill>
                    <a:latin typeface="Franklin Gothic Book" pitchFamily="34" charset="0"/>
                  </a:endParaRPr>
                </a:p>
              </p:txBody>
            </p:sp>
          </p:grpSp>
        </p:grpSp>
        <p:pic>
          <p:nvPicPr>
            <p:cNvPr id="110" name="Picture 5" descr="C:\Users\Rahhal\Desktop\texto.png"/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4355976" y="3579862"/>
              <a:ext cx="630833" cy="630833"/>
            </a:xfrm>
            <a:prstGeom prst="rect">
              <a:avLst/>
            </a:prstGeom>
            <a:noFill/>
          </p:spPr>
        </p:pic>
      </p:grpSp>
      <p:grpSp>
        <p:nvGrpSpPr>
          <p:cNvPr id="115" name="Groupe 114"/>
          <p:cNvGrpSpPr/>
          <p:nvPr/>
        </p:nvGrpSpPr>
        <p:grpSpPr>
          <a:xfrm>
            <a:off x="10799887" y="22102838"/>
            <a:ext cx="1440000" cy="1440000"/>
            <a:chOff x="5629945" y="3363838"/>
            <a:chExt cx="1030287" cy="1030287"/>
          </a:xfrm>
        </p:grpSpPr>
        <p:grpSp>
          <p:nvGrpSpPr>
            <p:cNvPr id="116" name="Group 12"/>
            <p:cNvGrpSpPr>
              <a:grpSpLocks/>
            </p:cNvGrpSpPr>
            <p:nvPr/>
          </p:nvGrpSpPr>
          <p:grpSpPr bwMode="auto">
            <a:xfrm>
              <a:off x="5629945" y="3363838"/>
              <a:ext cx="1030287" cy="1030287"/>
              <a:chOff x="4059238" y="1814514"/>
              <a:chExt cx="303212" cy="303213"/>
            </a:xfrm>
          </p:grpSpPr>
          <p:sp>
            <p:nvSpPr>
              <p:cNvPr id="118" name="Oval 23"/>
              <p:cNvSpPr>
                <a:spLocks noChangeArrowheads="1"/>
              </p:cNvSpPr>
              <p:nvPr/>
            </p:nvSpPr>
            <p:spPr bwMode="auto">
              <a:xfrm>
                <a:off x="4059238" y="1814514"/>
                <a:ext cx="303212" cy="303213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altLang="en-US">
                  <a:solidFill>
                    <a:srgbClr val="2E2E2E"/>
                  </a:solidFill>
                  <a:latin typeface="Franklin Gothic Book" pitchFamily="34" charset="0"/>
                </a:endParaRPr>
              </a:p>
            </p:txBody>
          </p:sp>
          <p:grpSp>
            <p:nvGrpSpPr>
              <p:cNvPr id="133" name="Group 14"/>
              <p:cNvGrpSpPr>
                <a:grpSpLocks/>
              </p:cNvGrpSpPr>
              <p:nvPr/>
            </p:nvGrpSpPr>
            <p:grpSpPr bwMode="auto">
              <a:xfrm>
                <a:off x="4162425" y="1882776"/>
                <a:ext cx="114300" cy="149225"/>
                <a:chOff x="4162425" y="1882776"/>
                <a:chExt cx="114300" cy="149225"/>
              </a:xfrm>
            </p:grpSpPr>
            <p:sp>
              <p:nvSpPr>
                <p:cNvPr id="134" name="Oval 25"/>
                <p:cNvSpPr>
                  <a:spLocks noChangeArrowheads="1"/>
                </p:cNvSpPr>
                <p:nvPr/>
              </p:nvSpPr>
              <p:spPr bwMode="auto">
                <a:xfrm>
                  <a:off x="4162425" y="1917701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altLang="en-US">
                    <a:solidFill>
                      <a:srgbClr val="2E2E2E"/>
                    </a:solidFill>
                    <a:latin typeface="Franklin Gothic Book" pitchFamily="34" charset="0"/>
                  </a:endParaRPr>
                </a:p>
              </p:txBody>
            </p:sp>
            <p:sp>
              <p:nvSpPr>
                <p:cNvPr id="140" name="Rectangle 26"/>
                <p:cNvSpPr>
                  <a:spLocks noChangeArrowheads="1"/>
                </p:cNvSpPr>
                <p:nvPr/>
              </p:nvSpPr>
              <p:spPr bwMode="auto">
                <a:xfrm>
                  <a:off x="4202113" y="1882776"/>
                  <a:ext cx="41275" cy="12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altLang="en-US">
                    <a:solidFill>
                      <a:srgbClr val="2E2E2E"/>
                    </a:solidFill>
                    <a:latin typeface="Franklin Gothic Book" pitchFamily="34" charset="0"/>
                  </a:endParaRPr>
                </a:p>
              </p:txBody>
            </p:sp>
          </p:grpSp>
        </p:grpSp>
        <p:pic>
          <p:nvPicPr>
            <p:cNvPr id="117" name="Picture 4" descr="C:\Users\Rahhal\Desktop\texte.png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5813375" y="3597101"/>
              <a:ext cx="630833" cy="630833"/>
            </a:xfrm>
            <a:prstGeom prst="rect">
              <a:avLst/>
            </a:prstGeom>
            <a:noFill/>
          </p:spPr>
        </p:pic>
      </p:grpSp>
      <p:sp>
        <p:nvSpPr>
          <p:cNvPr id="141" name="Rectangle 140"/>
          <p:cNvSpPr/>
          <p:nvPr/>
        </p:nvSpPr>
        <p:spPr>
          <a:xfrm>
            <a:off x="3455072" y="22248594"/>
            <a:ext cx="2621230" cy="120032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Speech</a:t>
            </a:r>
            <a:b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Recognition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8324033" y="22246853"/>
            <a:ext cx="2056973" cy="120032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Errors </a:t>
            </a:r>
            <a:b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detection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1078807" y="24047053"/>
            <a:ext cx="11881320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dirty="0" smtClean="0">
                <a:latin typeface="Arial" pitchFamily="34" charset="0"/>
                <a:cs typeface="Arial" pitchFamily="34" charset="0"/>
              </a:rPr>
              <a:t>Applications perspective to the proposed approach : 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Decide at run-time whether a given input signal has been properly recognized (e.g. if a user spoken utterance needs to be repeated in a dialogue application),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Decide if an automatic transcription is acceptable as it is (e.g. if manual revision is needed in an automatic subtitling application), 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Select the best transcription among options from multiple ASR systems,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A preliminary step towards an automatic ASR error correction system.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919567" y="31607893"/>
            <a:ext cx="4392488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CustomShape 2"/>
          <p:cNvSpPr/>
          <p:nvPr/>
        </p:nvSpPr>
        <p:spPr>
          <a:xfrm>
            <a:off x="934791" y="32421317"/>
            <a:ext cx="12115567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/>
            <a:r>
              <a:rPr lang="en-US" sz="4400" b="1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Related Works</a:t>
            </a:r>
            <a:endParaRPr lang="en-GB" sz="18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1078807" y="40607146"/>
            <a:ext cx="118813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 smtClean="0">
                <a:latin typeface="Arial" pitchFamily="34" charset="0"/>
                <a:cs typeface="Arial" pitchFamily="34" charset="0"/>
              </a:rPr>
              <a:t>In this work, we mainly focus on </a:t>
            </a: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classifier-based</a:t>
            </a:r>
            <a:r>
              <a:rPr lang="en-US" sz="4000" dirty="0" smtClean="0">
                <a:latin typeface="Arial" pitchFamily="34" charset="0"/>
                <a:cs typeface="Arial" pitchFamily="34" charset="0"/>
              </a:rPr>
              <a:t> ASR errors detection approach: </a:t>
            </a:r>
          </a:p>
          <a:p>
            <a:pPr marL="540000" indent="-540000" algn="just">
              <a:buFont typeface="Arial" pitchFamily="34" charset="0"/>
              <a:buChar char="•"/>
            </a:pP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We investigate </a:t>
            </a:r>
            <a:r>
              <a:rPr lang="en-US" sz="4000" dirty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the efficacy </a:t>
            </a:r>
            <a:r>
              <a:rPr lang="en-US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of </a:t>
            </a:r>
            <a:r>
              <a:rPr lang="en-GB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decoder </a:t>
            </a:r>
            <a:r>
              <a:rPr lang="en-GB" sz="4000" dirty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versus </a:t>
            </a:r>
            <a:r>
              <a:rPr lang="en-GB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non-decoder features </a:t>
            </a:r>
            <a:r>
              <a:rPr lang="en-GB" sz="4000" dirty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for ASR </a:t>
            </a:r>
            <a:r>
              <a:rPr lang="en-GB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errors detection </a:t>
            </a:r>
            <a:r>
              <a:rPr lang="en-GB" sz="4000" dirty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GB" sz="4000" dirty="0" smtClean="0">
                <a:solidFill>
                  <a:srgbClr val="1919E1"/>
                </a:solidFill>
                <a:latin typeface="Arial" pitchFamily="34" charset="0"/>
                <a:cs typeface="Arial" pitchFamily="34" charset="0"/>
              </a:rPr>
              <a:t>classification.</a:t>
            </a:r>
            <a:endParaRPr lang="en-US" sz="4000" dirty="0" smtClean="0">
              <a:solidFill>
                <a:srgbClr val="1919E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7" name="CustomShape 15"/>
          <p:cNvSpPr/>
          <p:nvPr/>
        </p:nvSpPr>
        <p:spPr>
          <a:xfrm>
            <a:off x="13608199" y="26783357"/>
            <a:ext cx="24993824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>
              <a:lnSpc>
                <a:spcPct val="100000"/>
              </a:lnSpc>
            </a:pPr>
            <a:r>
              <a:rPr lang="en-GB" sz="4400" b="1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  <a:ea typeface="DejaVu Sans"/>
              </a:rPr>
              <a:t>Results</a:t>
            </a:r>
            <a:endParaRPr lang="en-GB" sz="4400" b="1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  <a:ea typeface="DejaVu Sans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3752215" y="27719461"/>
            <a:ext cx="86373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0150" lvl="1" indent="-742950" eaLnBrk="0" fontAlgn="base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000" b="1" dirty="0" smtClean="0">
                <a:latin typeface="Arial" pitchFamily="34" charset="0"/>
                <a:ea typeface="Roboto" pitchFamily="2" charset="0"/>
                <a:cs typeface="Arial" pitchFamily="34" charset="0"/>
              </a:rPr>
              <a:t>ASR Errors Detection Results</a:t>
            </a:r>
            <a:endParaRPr lang="en-US" sz="4000" dirty="0" smtClean="0">
              <a:latin typeface="Arial" pitchFamily="34" charset="0"/>
              <a:ea typeface="Roboto" pitchFamily="2" charset="0"/>
              <a:cs typeface="Arial" pitchFamily="34" charset="0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934791" y="43993269"/>
            <a:ext cx="12115567" cy="84276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/>
          <a:lstStyle/>
          <a:p>
            <a:pPr algn="ctr"/>
            <a:r>
              <a:rPr lang="en-US" sz="4400" b="1" spc="-1" dirty="0" smtClean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 Black" pitchFamily="34" charset="0"/>
              </a:rPr>
              <a:t>References</a:t>
            </a:r>
            <a:endParaRPr lang="en-GB" sz="18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 Black" pitchFamily="34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078807" y="44929373"/>
            <a:ext cx="11881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0000" indent="-540000"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[1]. Jiang H (2005) Confidence measures for speech recognition: A survey. Speech communication 45(4):455--470</a:t>
            </a:r>
          </a:p>
          <a:p>
            <a:pPr marL="540000" indent="-540000"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[2]. Bell P, Gales M,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Kilgour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J,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Lanchantin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P, Liu X,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McParland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Renals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S,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Saz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O,  Webster  M,  et  al  (2015)  The  MGB  challenge:  Evaluating  multi-genre  broadcast  media transcription. In: ASRU</a:t>
            </a:r>
          </a:p>
          <a:p>
            <a:pPr marL="540000" indent="-540000"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[3].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Saz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Doulaty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M, Deena S, Milner R, Ng RW,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Hasan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M,  Liu Y,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Hain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 (2015) The 2015 Sheffield system for transcription of Multi -Genre Broadcast Media. In: ASRU</a:t>
            </a:r>
          </a:p>
          <a:p>
            <a:pPr marL="540000" indent="-540000"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[4].  Wang K, Thrasher C,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Viegas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E, Li XL, Hsu BJP (2010) An overview of Microsoft Web N-gram corpus and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14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Thème13</Template>
  <TotalTime>2902</TotalTime>
  <Words>663</Words>
  <Application>Microsoft Office PowerPoint</Application>
  <PresentationFormat>Personnalisé</PresentationFormat>
  <Paragraphs>86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2" baseType="lpstr">
      <vt:lpstr>Arial</vt:lpstr>
      <vt:lpstr>Arial Black</vt:lpstr>
      <vt:lpstr>Calibri</vt:lpstr>
      <vt:lpstr>DejaVu Sans</vt:lpstr>
      <vt:lpstr>標楷體</vt:lpstr>
      <vt:lpstr>Franklin Gothic Book</vt:lpstr>
      <vt:lpstr>Helvetica Light</vt:lpstr>
      <vt:lpstr>新細明體</vt:lpstr>
      <vt:lpstr>Roboto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Rahhal</dc:creator>
  <cp:lastModifiedBy>Compte Microsoft</cp:lastModifiedBy>
  <cp:revision>58</cp:revision>
  <dcterms:created xsi:type="dcterms:W3CDTF">2017-08-29T13:00:10Z</dcterms:created>
  <dcterms:modified xsi:type="dcterms:W3CDTF">2025-12-05T14:20:34Z</dcterms:modified>
</cp:coreProperties>
</file>